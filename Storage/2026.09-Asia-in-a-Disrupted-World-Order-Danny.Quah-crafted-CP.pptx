
<file path=[Content_Types].xml><?xml version="1.0" encoding="utf-8"?>
<Types xmlns="http://schemas.openxmlformats.org/package/2006/content-types">
  <Default Extension="m4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Embedded media: 2009.04-ADB-Workers-Asia-Financial-Crisis.m4v. Play approximately 2–3 minutes, then ask: how inevitable did Asia’s later success look at the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Author’s calculations from IMF, World Bank WDI, UNESCO and ILO, as presented in Economic Statecraft and Asia’s Role in the World Economy,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Author’s calculations from IMF, UNESCO, UN World Population and ILO, as presented in source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UN World Population Prospects and IMF WEO, author’s calculations from source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Eisenhower administration statement on the Organization for Trade Cooperation/GATT, 1956; John F. Kennedy, Trade Expansion Act, 1962.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for US labour-market effects: Autor, Dorn and Hanson, “The China Syndrome,” American Economic Review (2016), as quoted in the supplied PP5182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PP5182 deck, “Liberation Day Tariffs: ASEAN Responses,” slide 22. Rates and commitments reflect the source deck’s August 2026 lecture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PP5182 deck, slide 23. Retained as requested to demonstrate structural policy change rather than tariff trivia.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Discussion prompt. Ask participants to distinguish: hydrocarbons as export leverage; China as buyer and investor; the US as a security presence; ASEAN as a platform for regional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requested “Multiple Characteristics, Sliding Scale” taxonomy slide has been omitted. This simpler matrix preserves the useful recognition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495300" y="6477000"/>
            <a:ext cx="7000000" cy="1905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900"/>
              <a:t>Asia in a Disrupted World Order | Danny Quah</a:t>
            </a:r>
          </a:p>
        </p:txBody>
      </p:sp>
      <p:sp>
        <p:nvSpPr>
          <p:cNvPr id="10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1100000" y="6477000"/>
            <a:ext cx="600000" cy="190500"/>
          </a:xfrm>
          <a:prstGeom prst="rect">
            <a:avLst/>
          </a:prstGeom>
        </p:spPr>
        <p:txBody>
          <a:bodyPr/>
          <a:lstStyle/>
          <a:p>
            <a:pPr algn="r"/>
            <a:fld id="{7EAA527D-1C25-442F-A4F0-656F668C65C3}" type="slidenum">
              <a:rPr lang="en-US" sz="900"/>
              <a:t>‹#›</a:t>
            </a:fld>
            <a:endParaRPr lang="en-US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4v"/><Relationship Id="rId1" Type="http://schemas.microsoft.com/office/2007/relationships/media" Target="../media/media1.m4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B57580-0F73-43FC-A0FD-A02197D96CBF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96FA36-FBC5-437F-9005-E3F1905C55A9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Asia in a Disrupted World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D27743-9B10-4B41-B00B-F2BF4D14FD1D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5D682D-5B4B-43C4-95E2-E7A65C4531DE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From Rules-Based Multilateralism to Geoeconomics and Strategic Interdependence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9FE51-7E90-4E34-B676-E224553FC6A0}"/>
              </a:ext>
            </a:extLst>
          </p:cNvPr>
          <p:cNvSpPr>
            <a:spLocks noGrp="1"/>
          </p:cNvSpPr>
          <p:nvPr/>
        </p:nvSpPr>
        <p:spPr>
          <a:xfrm>
            <a:off x="523875" y="49530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Danny Quah</a:t>
            </a:r>
            <a:r>
              <a:rPr lang="en-US" sz="13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 Fri 04 Sep 2026, Bandar Sri Begawan</a:t>
            </a:r>
            <a:endParaRPr sz="135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66B1F-7D80-4D40-B467-46C800BBA6B1}"/>
              </a:ext>
            </a:extLst>
          </p:cNvPr>
          <p:cNvSpPr>
            <a:spLocks noGrp="1"/>
          </p:cNvSpPr>
          <p:nvPr/>
        </p:nvSpPr>
        <p:spPr>
          <a:xfrm>
            <a:off x="523875" y="5238750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0" i="0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Lee Kuan Yew School of Public Policy, NUS</a:t>
            </a:r>
          </a:p>
        </p:txBody>
      </p:sp>
    </p:spTree>
    <p:extLst>
      <p:ext uri="{BB962C8B-B14F-4D97-AF65-F5344CB8AC3E}">
        <p14:creationId xmlns:p14="http://schemas.microsoft.com/office/powerpoint/2010/main" val="192387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CA39C9-0836-477B-A08B-3BD0B74A3378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F8046E-04B7-4F44-B037-7635E3C41836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Asia’s spectacular and surprising development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1C8ED-9F6B-4003-B1A9-8143ED10F666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94C64-FC3A-46AC-BE39-1F8F871D27F1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Puzzle: how did a region of mostly small and initially poor states prosper?</a:t>
            </a:r>
          </a:p>
        </p:txBody>
      </p:sp>
    </p:spTree>
    <p:extLst>
      <p:ext uri="{BB962C8B-B14F-4D97-AF65-F5344CB8AC3E}">
        <p14:creationId xmlns:p14="http://schemas.microsoft.com/office/powerpoint/2010/main" val="202248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64DFC5-454A-40B1-AD2B-C01D4CA6873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Asia before the transformation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DB0FA-69FE-490B-9941-0A4905C69648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A short film from 2009 recalls how exposed livelihoods could feel inside the region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6DA93-C007-48AD-9915-84EA17753F96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7F4879-235C-4457-8094-A0649D313759}"/>
              </a:ext>
            </a:extLst>
          </p:cNvPr>
          <p:cNvSpPr>
            <a:spLocks noGrp="1"/>
          </p:cNvSpPr>
          <p:nvPr/>
        </p:nvSpPr>
        <p:spPr>
          <a:xfrm>
            <a:off x="5314950" y="3067050"/>
            <a:ext cx="876300" cy="876300"/>
          </a:xfrm>
          <a:prstGeom prst="ellipse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0321E-818B-47D7-9D8B-6D0C66DB417D}"/>
              </a:ext>
            </a:extLst>
          </p:cNvPr>
          <p:cNvSpPr>
            <a:spLocks noGrp="1"/>
          </p:cNvSpPr>
          <p:nvPr/>
        </p:nvSpPr>
        <p:spPr>
          <a:xfrm>
            <a:off x="5514975" y="3171825"/>
            <a:ext cx="5238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20"/>
          </a:bodyPr>
          <a:lstStyle/>
          <a:p>
            <a:pPr algn="ctr">
              <a:defRPr sz="28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▶</a:t>
            </a:r>
          </a:p>
        </p:txBody>
      </p:sp>
      <p:pic>
        <p:nvPicPr>
          <p:cNvPr id="4" name="2009.04-ADB-Workers-Asia-Financial-Crisis.m4v">
            <a:hlinkClick r:id="" action="ppaction://media"/>
            <a:extLst>
              <a:ext uri="{FF2B5EF4-FFF2-40B4-BE49-F238E27FC236}">
                <a16:creationId xmlns:a16="http://schemas.microsoft.com/office/drawing/2014/main" id="{8641FE60-845F-5DE3-49E7-96BB20F963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27250" y="1193800"/>
            <a:ext cx="79375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5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1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F431D9C-38B7-497F-BA55-1D473F39527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Asia’s remarkable and unexpected success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4CFAC1-6B6F-40A5-A714-7D9B97E95702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Despite 1997, 2003, 2008</a:t>
            </a:r>
            <a:r>
              <a:rPr lang="en-US"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 and 2020, the region transformed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FD62A7-A646-499B-B8FD-717537EE2116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AA468-DEA4-4E20-938F-9FFB64C53A29}"/>
              </a:ext>
            </a:extLst>
          </p:cNvPr>
          <p:cNvSpPr>
            <a:spLocks noGrp="1"/>
          </p:cNvSpPr>
          <p:nvPr/>
        </p:nvSpPr>
        <p:spPr>
          <a:xfrm>
            <a:off x="4619625" y="13811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1990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7A0A0-55CA-4DC0-9319-C325090A7BC7}"/>
              </a:ext>
            </a:extLst>
          </p:cNvPr>
          <p:cNvSpPr>
            <a:spLocks noGrp="1"/>
          </p:cNvSpPr>
          <p:nvPr/>
        </p:nvSpPr>
        <p:spPr>
          <a:xfrm>
            <a:off x="6619875" y="13811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FD4D7A-41D6-4644-8D20-32054A89DA07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7810500" cy="5143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B6A731-DD30-4FB0-81B5-C838E3E77C14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Contribution to global growth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E1629-57FA-43D6-AA06-EE08BCDCEC46}"/>
              </a:ext>
            </a:extLst>
          </p:cNvPr>
          <p:cNvSpPr>
            <a:spLocks noGrp="1"/>
          </p:cNvSpPr>
          <p:nvPr/>
        </p:nvSpPr>
        <p:spPr>
          <a:xfrm>
            <a:off x="4619625" y="17621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25%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45952C-6661-46A8-8FA1-FDC69954F605}"/>
              </a:ext>
            </a:extLst>
          </p:cNvPr>
          <p:cNvSpPr>
            <a:spLocks noGrp="1"/>
          </p:cNvSpPr>
          <p:nvPr/>
        </p:nvSpPr>
        <p:spPr>
          <a:xfrm>
            <a:off x="6619875" y="17621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nearly 70%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11275-3E24-4213-93CC-43D72536F1E6}"/>
              </a:ext>
            </a:extLst>
          </p:cNvPr>
          <p:cNvSpPr>
            <a:spLocks noGrp="1"/>
          </p:cNvSpPr>
          <p:nvPr/>
        </p:nvSpPr>
        <p:spPr>
          <a:xfrm>
            <a:off x="1047750" y="23526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GDP per capita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196B44-E6D7-45BD-B3A4-3E62E04DAE18}"/>
              </a:ext>
            </a:extLst>
          </p:cNvPr>
          <p:cNvSpPr>
            <a:spLocks noGrp="1"/>
          </p:cNvSpPr>
          <p:nvPr/>
        </p:nvSpPr>
        <p:spPr>
          <a:xfrm>
            <a:off x="4619625" y="23526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USD1.6k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348326-4F4F-4D6D-9DFE-245024EECDF1}"/>
              </a:ext>
            </a:extLst>
          </p:cNvPr>
          <p:cNvSpPr>
            <a:spLocks noGrp="1"/>
          </p:cNvSpPr>
          <p:nvPr/>
        </p:nvSpPr>
        <p:spPr>
          <a:xfrm>
            <a:off x="6619875" y="23526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USD9.1k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677C94-D9B0-4B3E-B59F-786DB30366BE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7810500" cy="5143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49A1D1-87D9-456A-A78F-4E3AB18C6165}"/>
              </a:ext>
            </a:extLst>
          </p:cNvPr>
          <p:cNvSpPr>
            <a:spLocks noGrp="1"/>
          </p:cNvSpPr>
          <p:nvPr/>
        </p:nvSpPr>
        <p:spPr>
          <a:xfrm>
            <a:off x="1047750" y="294322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GDP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41FB9E-FD8D-4210-A207-3D0CF98725BA}"/>
              </a:ext>
            </a:extLst>
          </p:cNvPr>
          <p:cNvSpPr>
            <a:spLocks noGrp="1"/>
          </p:cNvSpPr>
          <p:nvPr/>
        </p:nvSpPr>
        <p:spPr>
          <a:xfrm>
            <a:off x="4619625" y="29432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USD5.5tn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BD0984-3FC1-4F5F-A35F-E5D98B5D4873}"/>
              </a:ext>
            </a:extLst>
          </p:cNvPr>
          <p:cNvSpPr>
            <a:spLocks noGrp="1"/>
          </p:cNvSpPr>
          <p:nvPr/>
        </p:nvSpPr>
        <p:spPr>
          <a:xfrm>
            <a:off x="6619875" y="29432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USD40tn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9D7AC8-8899-4049-8070-D0A1D13BC181}"/>
              </a:ext>
            </a:extLst>
          </p:cNvPr>
          <p:cNvSpPr>
            <a:spLocks noGrp="1"/>
          </p:cNvSpPr>
          <p:nvPr/>
        </p:nvSpPr>
        <p:spPr>
          <a:xfrm>
            <a:off x="1047750" y="35337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Extreme poverty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E20E4-1042-4618-8C72-EAD7BFBD45FC}"/>
              </a:ext>
            </a:extLst>
          </p:cNvPr>
          <p:cNvSpPr>
            <a:spLocks noGrp="1"/>
          </p:cNvSpPr>
          <p:nvPr/>
        </p:nvSpPr>
        <p:spPr>
          <a:xfrm>
            <a:off x="4619625" y="35337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52%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DB7A0A-AB7D-42CC-B581-B80ECCD6D3DF}"/>
              </a:ext>
            </a:extLst>
          </p:cNvPr>
          <p:cNvSpPr>
            <a:spLocks noGrp="1"/>
          </p:cNvSpPr>
          <p:nvPr/>
        </p:nvSpPr>
        <p:spPr>
          <a:xfrm>
            <a:off x="6619875" y="35337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6.5%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E2FA01-C9C0-42D5-84F6-3E1EC8A757F2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7810500" cy="5143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7FD88-CEFC-4C01-8A80-47F1CCA65357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Life expectancy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2487E8-7041-4EAC-8F6F-A7B77BE84C83}"/>
              </a:ext>
            </a:extLst>
          </p:cNvPr>
          <p:cNvSpPr>
            <a:spLocks noGrp="1"/>
          </p:cNvSpPr>
          <p:nvPr/>
        </p:nvSpPr>
        <p:spPr>
          <a:xfrm>
            <a:off x="4619625" y="41243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66 years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1E4C41-4060-4FE3-8F6A-CCD930171866}"/>
              </a:ext>
            </a:extLst>
          </p:cNvPr>
          <p:cNvSpPr>
            <a:spLocks noGrp="1"/>
          </p:cNvSpPr>
          <p:nvPr/>
        </p:nvSpPr>
        <p:spPr>
          <a:xfrm>
            <a:off x="6619875" y="41243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75 years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513C1A-917E-4116-8BD6-55C4BBE7B24B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Literacy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C03304-0936-4A13-95C0-F6FE55A50924}"/>
              </a:ext>
            </a:extLst>
          </p:cNvPr>
          <p:cNvSpPr>
            <a:spLocks noGrp="1"/>
          </p:cNvSpPr>
          <p:nvPr/>
        </p:nvSpPr>
        <p:spPr>
          <a:xfrm>
            <a:off x="4619625" y="47148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71%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D64A17-6A81-4ACA-8D45-F1392AD7DA45}"/>
              </a:ext>
            </a:extLst>
          </p:cNvPr>
          <p:cNvSpPr>
            <a:spLocks noGrp="1"/>
          </p:cNvSpPr>
          <p:nvPr/>
        </p:nvSpPr>
        <p:spPr>
          <a:xfrm>
            <a:off x="6619875" y="47148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91%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FEF05F-7692-40D9-BB33-1803A5AE43BA}"/>
              </a:ext>
            </a:extLst>
          </p:cNvPr>
          <p:cNvSpPr>
            <a:spLocks noGrp="1"/>
          </p:cNvSpPr>
          <p:nvPr/>
        </p:nvSpPr>
        <p:spPr>
          <a:xfrm>
            <a:off x="9048750" y="2000250"/>
            <a:ext cx="2333625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Asia moved from one-quarter to roughly two-thirds of global growth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A0F4C9-4976-4311-8334-B0410E13ED24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233362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Its success was broad: income, health, literacy and poverty all moved together</a:t>
            </a:r>
          </a:p>
        </p:txBody>
      </p:sp>
    </p:spTree>
    <p:extLst>
      <p:ext uri="{BB962C8B-B14F-4D97-AF65-F5344CB8AC3E}">
        <p14:creationId xmlns:p14="http://schemas.microsoft.com/office/powerpoint/2010/main" val="210473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D9EC54F-4D14-44D5-B631-3F8B6A61D64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Asia’s demographic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38F839-1952-4383-A317-781C96D90858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The growth model now meets ageing, employment gaps</a:t>
            </a:r>
            <a:r>
              <a:rPr lang="en-US"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 and sharply different national trajectories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B58AAD-BC06-4BC3-A973-37E66B893313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108823-BBA9-4EA3-8690-ECC798DE992A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3594100" cy="3810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1951D-2D85-4780-9697-856AB5DFC2B1}"/>
              </a:ext>
            </a:extLst>
          </p:cNvPr>
          <p:cNvSpPr>
            <a:spLocks noGrp="1"/>
          </p:cNvSpPr>
          <p:nvPr/>
        </p:nvSpPr>
        <p:spPr>
          <a:xfrm>
            <a:off x="66675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821E0-EF79-4F8E-B3CF-6E43503697C3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Northeast Asia ages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2CFE8-D9CB-49B1-8EBC-F0F8D672543D}"/>
              </a:ext>
            </a:extLst>
          </p:cNvPr>
          <p:cNvSpPr>
            <a:spLocks noGrp="1"/>
          </p:cNvSpPr>
          <p:nvPr/>
        </p:nvSpPr>
        <p:spPr>
          <a:xfrm>
            <a:off x="666750" y="2486025"/>
            <a:ext cx="3251200" cy="2609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By 2025, 21% of Singapore and 20% of </a:t>
            </a:r>
            <a:r>
              <a:rPr lang="en-US"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South 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Korea are aged 65 or older. Japan stands at 28%.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73ADF8-99E8-4C69-BF42-F9DB4217AD26}"/>
              </a:ext>
            </a:extLst>
          </p:cNvPr>
          <p:cNvSpPr>
            <a:spLocks noGrp="1"/>
          </p:cNvSpPr>
          <p:nvPr/>
        </p:nvSpPr>
        <p:spPr>
          <a:xfrm>
            <a:off x="4298950" y="1476375"/>
            <a:ext cx="3594100" cy="3810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015A6-5F29-4575-ABC5-324463E66C03}"/>
              </a:ext>
            </a:extLst>
          </p:cNvPr>
          <p:cNvSpPr>
            <a:spLocks noGrp="1"/>
          </p:cNvSpPr>
          <p:nvPr/>
        </p:nvSpPr>
        <p:spPr>
          <a:xfrm>
            <a:off x="447040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73085-8F53-4A1B-B0DB-7425074F9717}"/>
              </a:ext>
            </a:extLst>
          </p:cNvPr>
          <p:cNvSpPr>
            <a:spLocks noGrp="1"/>
          </p:cNvSpPr>
          <p:nvPr/>
        </p:nvSpPr>
        <p:spPr>
          <a:xfrm>
            <a:off x="447040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750"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Working age does not ensure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298E39-FDE5-448F-923C-F326CD25C272}"/>
              </a:ext>
            </a:extLst>
          </p:cNvPr>
          <p:cNvSpPr>
            <a:spLocks noGrp="1"/>
          </p:cNvSpPr>
          <p:nvPr/>
        </p:nvSpPr>
        <p:spPr>
          <a:xfrm>
            <a:off x="4470400" y="2486025"/>
            <a:ext cx="3251200" cy="2609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Asia’s non-working working-age population rose from about 0.4bn to 0.6bn.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6FD510-CFAE-41A7-931C-3CE13B2E2440}"/>
              </a:ext>
            </a:extLst>
          </p:cNvPr>
          <p:cNvSpPr>
            <a:spLocks noGrp="1"/>
          </p:cNvSpPr>
          <p:nvPr/>
        </p:nvSpPr>
        <p:spPr>
          <a:xfrm>
            <a:off x="8102600" y="1476375"/>
            <a:ext cx="3594100" cy="3810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A80E54-6B36-49E4-B302-A211E58EB4DD}"/>
              </a:ext>
            </a:extLst>
          </p:cNvPr>
          <p:cNvSpPr>
            <a:spLocks noGrp="1"/>
          </p:cNvSpPr>
          <p:nvPr/>
        </p:nvSpPr>
        <p:spPr>
          <a:xfrm>
            <a:off x="827405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C91F85-6959-42A6-9402-4E6C753FFD4C}"/>
              </a:ext>
            </a:extLst>
          </p:cNvPr>
          <p:cNvSpPr>
            <a:spLocks noGrp="1"/>
          </p:cNvSpPr>
          <p:nvPr/>
        </p:nvSpPr>
        <p:spPr>
          <a:xfrm>
            <a:off x="827405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macroeconomic cost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9EB9A1-4108-4184-A971-C6EF3C57CDEB}"/>
              </a:ext>
            </a:extLst>
          </p:cNvPr>
          <p:cNvSpPr>
            <a:spLocks noGrp="1"/>
          </p:cNvSpPr>
          <p:nvPr/>
        </p:nvSpPr>
        <p:spPr>
          <a:xfrm>
            <a:off x="8274050" y="2486025"/>
            <a:ext cx="3251200" cy="2609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 steady-state calculation implies a 7</a:t>
            </a:r>
            <a:r>
              <a:rPr lang="en-US"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.5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% fall in GDP per capita even under </a:t>
            </a:r>
            <a:r>
              <a:rPr sz="2400" b="0" i="0" dirty="0" err="1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favourable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reallocation assumptions.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65F34-99D4-4EB7-9BA5-B55D66495B4B}"/>
              </a:ext>
            </a:extLst>
          </p:cNvPr>
          <p:cNvSpPr>
            <a:spLocks noGrp="1"/>
          </p:cNvSpPr>
          <p:nvPr/>
        </p:nvSpPr>
        <p:spPr>
          <a:xfrm>
            <a:off x="495300" y="5572125"/>
            <a:ext cx="112014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The regional average conceals a sharp Northeast Asia–South Asia divide</a:t>
            </a:r>
          </a:p>
        </p:txBody>
      </p:sp>
    </p:spTree>
    <p:extLst>
      <p:ext uri="{BB962C8B-B14F-4D97-AF65-F5344CB8AC3E}">
        <p14:creationId xmlns:p14="http://schemas.microsoft.com/office/powerpoint/2010/main" val="1262973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6C50F8-A9DB-4410-A27D-EF7E6F7781C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Asia is a community of mostly small states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C794D9-33B8-47AF-9CFF-7D1E9CB2A6EE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China and India dominate the aggregate, but not the membership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C3A633-416A-4315-A318-F67E3A0C25E2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A17244-46AA-43BD-8F63-1DFE2F20015B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667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4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30m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CB928-7256-4FCB-8194-243D45F76E98}"/>
              </a:ext>
            </a:extLst>
          </p:cNvPr>
          <p:cNvSpPr>
            <a:spLocks noGrp="1"/>
          </p:cNvSpPr>
          <p:nvPr/>
        </p:nvSpPr>
        <p:spPr>
          <a:xfrm>
            <a:off x="857250" y="2666999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Median Asia-Pacific population,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861E7-4F0E-452F-895C-6C2A231B9669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2667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4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77%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12AB25-2ABB-4632-B8A4-CE8EBB37B37A}"/>
              </a:ext>
            </a:extLst>
          </p:cNvPr>
          <p:cNvSpPr>
            <a:spLocks noGrp="1"/>
          </p:cNvSpPr>
          <p:nvPr/>
        </p:nvSpPr>
        <p:spPr>
          <a:xfrm>
            <a:off x="4762500" y="2667000"/>
            <a:ext cx="2667000" cy="100012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Population share held by the largest 10%, 2023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13835-CE0D-40BE-91C0-AB9694A5BBDB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2667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4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4F251-DD65-4C2B-875B-12B61E24BBC6}"/>
              </a:ext>
            </a:extLst>
          </p:cNvPr>
          <p:cNvSpPr>
            <a:spLocks noGrp="1"/>
          </p:cNvSpPr>
          <p:nvPr/>
        </p:nvSpPr>
        <p:spPr>
          <a:xfrm>
            <a:off x="8667750" y="2667000"/>
            <a:ext cx="2667000" cy="100012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lang="en-US" sz="2000" b="0" i="0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World’s </a:t>
            </a:r>
            <a:r>
              <a:rPr lang="en-US" sz="2000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000" b="0" i="0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ichest economies outside US average only 4m people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FB2AB-EF77-4F21-A982-41DD1EA0D734}"/>
              </a:ext>
            </a:extLst>
          </p:cNvPr>
          <p:cNvSpPr>
            <a:spLocks noGrp="1"/>
          </p:cNvSpPr>
          <p:nvPr/>
        </p:nvSpPr>
        <p:spPr>
          <a:xfrm>
            <a:off x="857250" y="4160436"/>
            <a:ext cx="10477500" cy="1143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29E3A-FC6F-4CDC-A2E6-E1DA228C34FD}"/>
              </a:ext>
            </a:extLst>
          </p:cNvPr>
          <p:cNvSpPr>
            <a:spLocks noGrp="1"/>
          </p:cNvSpPr>
          <p:nvPr/>
        </p:nvSpPr>
        <p:spPr>
          <a:xfrm>
            <a:off x="1238250" y="4372208"/>
            <a:ext cx="971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Population and income per person were negatively correlated in Asia: −0.45 in 1990 and −0.20 in 2023</a:t>
            </a:r>
          </a:p>
        </p:txBody>
      </p:sp>
    </p:spTree>
    <p:extLst>
      <p:ext uri="{BB962C8B-B14F-4D97-AF65-F5344CB8AC3E}">
        <p14:creationId xmlns:p14="http://schemas.microsoft.com/office/powerpoint/2010/main" val="144190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A60062-0022-4D35-BA13-EDC1D8D0C551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THE PUZZLE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AC2009-AB42-4A3C-A05B-94509F9C821F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“The strong do what they </a:t>
            </a:r>
            <a:r>
              <a:rPr lang="en-US" sz="2925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will</a:t>
            </a:r>
            <a:r>
              <a:rPr sz="2925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; the weak suffer what they must.”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F22E4B-F106-4926-B3DC-5D1B3F6AD879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0BE839-AF15-45E1-8840-ACDDFE8C7EBA}"/>
              </a:ext>
            </a:extLst>
          </p:cNvPr>
          <p:cNvSpPr>
            <a:spLocks noGrp="1"/>
          </p:cNvSpPr>
          <p:nvPr/>
        </p:nvSpPr>
        <p:spPr>
          <a:xfrm>
            <a:off x="449447" y="4200524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 dirty="0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How, then, did so many small Asian states prosper?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BAEAA-A2A1-4DA3-A384-C787F0404071}"/>
              </a:ext>
            </a:extLst>
          </p:cNvPr>
          <p:cNvSpPr>
            <a:spLocks noGrp="1"/>
          </p:cNvSpPr>
          <p:nvPr/>
        </p:nvSpPr>
        <p:spPr>
          <a:xfrm>
            <a:off x="449447" y="3795712"/>
            <a:ext cx="571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125" b="0" i="1" dirty="0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Thucydides, The Peloponnesian War</a:t>
            </a:r>
          </a:p>
        </p:txBody>
      </p:sp>
    </p:spTree>
    <p:extLst>
      <p:ext uri="{BB962C8B-B14F-4D97-AF65-F5344CB8AC3E}">
        <p14:creationId xmlns:p14="http://schemas.microsoft.com/office/powerpoint/2010/main" val="29441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B24E3F-D37B-42AD-A8EC-ED914C29B298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TWO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6D39E-BDB3-40A6-88A8-EFD9BF6D9DB1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international order that made it possible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223B8-3FFD-40E9-B24D-E31AF0C1AA7E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17161-B8B8-4894-964C-BF3D50E6F6BC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And the disruption that now weakens it</a:t>
            </a:r>
          </a:p>
        </p:txBody>
      </p:sp>
    </p:spTree>
    <p:extLst>
      <p:ext uri="{BB962C8B-B14F-4D97-AF65-F5344CB8AC3E}">
        <p14:creationId xmlns:p14="http://schemas.microsoft.com/office/powerpoint/2010/main" val="203841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6BFE65-D37F-4E46-9A45-FAF49F11582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What the postwar order did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412E4B-23E5-454D-8C1F-8F467DB33173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Rules attenuated the effect of power without eliminating 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99A18-0BE2-4F03-80A5-DFB6B7C30DAE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54A837-CFAE-4DD9-B9EF-0AE7B54915D4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3594100" cy="3333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34A63-AD50-4653-BAAB-C8AD54FC5DDD}"/>
              </a:ext>
            </a:extLst>
          </p:cNvPr>
          <p:cNvSpPr>
            <a:spLocks noGrp="1"/>
          </p:cNvSpPr>
          <p:nvPr/>
        </p:nvSpPr>
        <p:spPr>
          <a:xfrm>
            <a:off x="666750" y="172402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F6AB7-B036-45D0-BF69-7DC37B1343CB}"/>
              </a:ext>
            </a:extLst>
          </p:cNvPr>
          <p:cNvSpPr>
            <a:spLocks noGrp="1"/>
          </p:cNvSpPr>
          <p:nvPr/>
        </p:nvSpPr>
        <p:spPr>
          <a:xfrm>
            <a:off x="666750" y="212407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Open markets enlarged scale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E9CBF-4688-47A2-BD0B-BC38CF68A899}"/>
              </a:ext>
            </a:extLst>
          </p:cNvPr>
          <p:cNvSpPr>
            <a:spLocks noGrp="1"/>
          </p:cNvSpPr>
          <p:nvPr/>
        </p:nvSpPr>
        <p:spPr>
          <a:xfrm>
            <a:off x="666750" y="2581275"/>
            <a:ext cx="3251200" cy="213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Small states could sell into markets far larger than their own.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FBED3-85FA-4D05-BB60-DC2C87A2BEBC}"/>
              </a:ext>
            </a:extLst>
          </p:cNvPr>
          <p:cNvSpPr>
            <a:spLocks noGrp="1"/>
          </p:cNvSpPr>
          <p:nvPr/>
        </p:nvSpPr>
        <p:spPr>
          <a:xfrm>
            <a:off x="4298950" y="1571625"/>
            <a:ext cx="3594100" cy="3333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C98BB-6389-4FA2-9AB6-384020FF4B8E}"/>
              </a:ext>
            </a:extLst>
          </p:cNvPr>
          <p:cNvSpPr>
            <a:spLocks noGrp="1"/>
          </p:cNvSpPr>
          <p:nvPr/>
        </p:nvSpPr>
        <p:spPr>
          <a:xfrm>
            <a:off x="4470400" y="172402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E0FEF3-2D76-4903-9789-49906D3DD97C}"/>
              </a:ext>
            </a:extLst>
          </p:cNvPr>
          <p:cNvSpPr>
            <a:spLocks noGrp="1"/>
          </p:cNvSpPr>
          <p:nvPr/>
        </p:nvSpPr>
        <p:spPr>
          <a:xfrm>
            <a:off x="4470400" y="212407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017"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Rules constrained bargaining power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2E0D3-CC0E-4B37-8A78-EF7812F90DB7}"/>
              </a:ext>
            </a:extLst>
          </p:cNvPr>
          <p:cNvSpPr>
            <a:spLocks noGrp="1"/>
          </p:cNvSpPr>
          <p:nvPr/>
        </p:nvSpPr>
        <p:spPr>
          <a:xfrm>
            <a:off x="4470400" y="2581275"/>
            <a:ext cx="3251200" cy="213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Non-discrimination and binding commitments made access more predictable.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7B118D-2FE1-4B6F-9942-1EF3D1555D8D}"/>
              </a:ext>
            </a:extLst>
          </p:cNvPr>
          <p:cNvSpPr>
            <a:spLocks noGrp="1"/>
          </p:cNvSpPr>
          <p:nvPr/>
        </p:nvSpPr>
        <p:spPr>
          <a:xfrm>
            <a:off x="8102600" y="1571625"/>
            <a:ext cx="3594100" cy="3333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317DDC-E60C-4A29-B063-C0D9E579B3C4}"/>
              </a:ext>
            </a:extLst>
          </p:cNvPr>
          <p:cNvSpPr>
            <a:spLocks noGrp="1"/>
          </p:cNvSpPr>
          <p:nvPr/>
        </p:nvSpPr>
        <p:spPr>
          <a:xfrm>
            <a:off x="8274050" y="172402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E4A66-1E7E-42FA-8CA3-F3403AC7623F}"/>
              </a:ext>
            </a:extLst>
          </p:cNvPr>
          <p:cNvSpPr>
            <a:spLocks noGrp="1"/>
          </p:cNvSpPr>
          <p:nvPr/>
        </p:nvSpPr>
        <p:spPr>
          <a:xfrm>
            <a:off x="8274050" y="212407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840"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Institutions supported cooperation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39EEB0-B4CB-4289-B444-FD067D2F4355}"/>
              </a:ext>
            </a:extLst>
          </p:cNvPr>
          <p:cNvSpPr>
            <a:spLocks noGrp="1"/>
          </p:cNvSpPr>
          <p:nvPr/>
        </p:nvSpPr>
        <p:spPr>
          <a:xfrm>
            <a:off x="8274050" y="2581275"/>
            <a:ext cx="3251200" cy="213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Peaceful dispute settlement gave small states an alternative to bilateral power politics.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F073F6-3796-4378-9924-054B54C7CEB6}"/>
              </a:ext>
            </a:extLst>
          </p:cNvPr>
          <p:cNvSpPr>
            <a:spLocks noGrp="1"/>
          </p:cNvSpPr>
          <p:nvPr/>
        </p:nvSpPr>
        <p:spPr>
          <a:xfrm>
            <a:off x="495300" y="5286375"/>
            <a:ext cx="11201400" cy="110379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Power still mattered. Rules change how directly power translate</a:t>
            </a:r>
            <a:r>
              <a:rPr lang="en-US" sz="2400" b="1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s</a:t>
            </a:r>
            <a:r>
              <a:rPr sz="2400" b="1" i="0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 into outcomes.</a:t>
            </a:r>
          </a:p>
        </p:txBody>
      </p:sp>
    </p:spTree>
    <p:extLst>
      <p:ext uri="{BB962C8B-B14F-4D97-AF65-F5344CB8AC3E}">
        <p14:creationId xmlns:p14="http://schemas.microsoft.com/office/powerpoint/2010/main" val="18685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826352-AD16-4C79-842C-50341B4047D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postwar bargain was strategic from the beginning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49A8B1-3672-4A04-A514-094AA132ED4B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Open trade served economic growth and Cold War competition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D95F33-35C0-4FD6-BDD1-19C46ABFB889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35EB28-B91B-4BD4-A0A0-2EBBCED823DA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143500" cy="3429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C10220-767F-4A40-BB2B-A5EB83AB8E7C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4667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Eisenhower administration, 1956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A5CF5-60F4-4441-A47A-ED29CC477951}"/>
              </a:ext>
            </a:extLst>
          </p:cNvPr>
          <p:cNvSpPr>
            <a:spLocks noGrp="1"/>
          </p:cNvSpPr>
          <p:nvPr/>
        </p:nvSpPr>
        <p:spPr>
          <a:xfrm>
            <a:off x="904875" y="2286000"/>
            <a:ext cx="4619625" cy="179690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 participation in GATT institutions would reassure the free world as the Soviet Union expanded its economic efforts.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4C5BC-4FA2-46CE-BE7F-FBB09D8C3C49}"/>
              </a:ext>
            </a:extLst>
          </p:cNvPr>
          <p:cNvSpPr>
            <a:spLocks noGrp="1"/>
          </p:cNvSpPr>
          <p:nvPr/>
        </p:nvSpPr>
        <p:spPr>
          <a:xfrm>
            <a:off x="904875" y="4191000"/>
            <a:ext cx="4619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425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Open markets were part of alliance strategy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499652-74FB-4A8E-AAA4-EE48E1060F27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143500" cy="3429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620A64-E8B7-4627-B8D3-E6824D28B0E7}"/>
              </a:ext>
            </a:extLst>
          </p:cNvPr>
          <p:cNvSpPr>
            <a:spLocks noGrp="1"/>
          </p:cNvSpPr>
          <p:nvPr/>
        </p:nvSpPr>
        <p:spPr>
          <a:xfrm>
            <a:off x="6619875" y="1809750"/>
            <a:ext cx="4667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John F. Kennedy, 1962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5E97C-A5C6-403D-870C-D6B87FCC2713}"/>
              </a:ext>
            </a:extLst>
          </p:cNvPr>
          <p:cNvSpPr>
            <a:spLocks noGrp="1"/>
          </p:cNvSpPr>
          <p:nvPr/>
        </p:nvSpPr>
        <p:spPr>
          <a:xfrm>
            <a:off x="6619875" y="2286000"/>
            <a:ext cx="4619625" cy="179690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“A vital expanding economy in the free world is a strong counter to the threat of the world Communist movement.”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C31E92-02AF-464D-AF24-0A7888877768}"/>
              </a:ext>
            </a:extLst>
          </p:cNvPr>
          <p:cNvSpPr>
            <a:spLocks noGrp="1"/>
          </p:cNvSpPr>
          <p:nvPr/>
        </p:nvSpPr>
        <p:spPr>
          <a:xfrm>
            <a:off x="6619875" y="4191000"/>
            <a:ext cx="4619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42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Trade policy was security policy</a:t>
            </a:r>
          </a:p>
        </p:txBody>
      </p:sp>
    </p:spTree>
    <p:extLst>
      <p:ext uri="{BB962C8B-B14F-4D97-AF65-F5344CB8AC3E}">
        <p14:creationId xmlns:p14="http://schemas.microsoft.com/office/powerpoint/2010/main" val="122509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796E40-6C3E-495D-A8FB-CB3A87D0C92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economic bargain and the political wager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829F21-0050-4FA9-9A01-58903C583553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The consensus combined a durable economic proposition with a much less secure political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F35400-7B6D-42C6-BAF6-3E5E25FEC749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DEE0B-9552-4731-9861-955AB44CEA81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143500" cy="36195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8B211-3E3A-4646-9D84-7AAF02842B19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Comparative advantage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68058-BE7B-4D46-81B7-181669C49581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4619625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Trade can raise total income even when one country is more productive in every activity. Relative costs, rather than absolute advantage, determine mutual gain.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E49424-5292-4844-8CA2-55F8E7BD803D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143500" cy="36195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EF126E-D299-4DE0-82AA-2D0F13C254A6}"/>
              </a:ext>
            </a:extLst>
          </p:cNvPr>
          <p:cNvSpPr>
            <a:spLocks noGrp="1"/>
          </p:cNvSpPr>
          <p:nvPr/>
        </p:nvSpPr>
        <p:spPr>
          <a:xfrm>
            <a:off x="6619875" y="180975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Political convergence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D5600-AE6F-4164-92FB-891B58394E4F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4619625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 err="1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Lipset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, Fukuyama</a:t>
            </a:r>
            <a:r>
              <a:rPr lang="en-US"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and Clinton expected prosperity and integration to encourage political convergence. Markets delivered wealth more reliably than they delivered convergence.</a:t>
            </a:r>
          </a:p>
        </p:txBody>
      </p:sp>
    </p:spTree>
    <p:extLst>
      <p:ext uri="{BB962C8B-B14F-4D97-AF65-F5344CB8AC3E}">
        <p14:creationId xmlns:p14="http://schemas.microsoft.com/office/powerpoint/2010/main" val="107825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84EE225-00BB-4174-B22B-6E4337F35A3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Why Southeast Asia benefited so much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F99B59-AED3-4600-8BF5-A24FC43AC483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The region learned to use multilateral openness exceptionally well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79846B-67B8-4386-B61C-C853EEE74DE1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230B5-F819-4A58-8768-1E542AD047B4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3594100" cy="3714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FB482-CC40-45C8-8E2C-305BF87AE9DA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456829-E7C0-4386-8E30-1D8C8E87FF8C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Global value chains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84F3D2-9B1C-4B7B-BA3F-340EE4E643FE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3251200" cy="2514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Predictable border access allowed production to fragment across many economies.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0866F1-5422-4ABF-BFDE-C04063A9E5C7}"/>
              </a:ext>
            </a:extLst>
          </p:cNvPr>
          <p:cNvSpPr>
            <a:spLocks noGrp="1"/>
          </p:cNvSpPr>
          <p:nvPr/>
        </p:nvSpPr>
        <p:spPr>
          <a:xfrm>
            <a:off x="4298950" y="1524000"/>
            <a:ext cx="3594100" cy="3714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E239F2-F4CF-4F3F-A37A-3BF79748BAAD}"/>
              </a:ext>
            </a:extLst>
          </p:cNvPr>
          <p:cNvSpPr>
            <a:spLocks noGrp="1"/>
          </p:cNvSpPr>
          <p:nvPr/>
        </p:nvSpPr>
        <p:spPr>
          <a:xfrm>
            <a:off x="447040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95C0CA-D831-431C-9A89-8C8CB8EE5882}"/>
              </a:ext>
            </a:extLst>
          </p:cNvPr>
          <p:cNvSpPr>
            <a:spLocks noGrp="1"/>
          </p:cNvSpPr>
          <p:nvPr/>
        </p:nvSpPr>
        <p:spPr>
          <a:xfrm>
            <a:off x="447040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Credibility for investment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1DC00A-2576-42DC-AE95-83E6605982DF}"/>
              </a:ext>
            </a:extLst>
          </p:cNvPr>
          <p:cNvSpPr>
            <a:spLocks noGrp="1"/>
          </p:cNvSpPr>
          <p:nvPr/>
        </p:nvSpPr>
        <p:spPr>
          <a:xfrm>
            <a:off x="4470400" y="2533650"/>
            <a:ext cx="3251200" cy="2514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WTO commitments made export platforms more attractive to long-horizon foreign investment.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8ADFA1-9090-4E53-A477-BE79ADE02FE6}"/>
              </a:ext>
            </a:extLst>
          </p:cNvPr>
          <p:cNvSpPr>
            <a:spLocks noGrp="1"/>
          </p:cNvSpPr>
          <p:nvPr/>
        </p:nvSpPr>
        <p:spPr>
          <a:xfrm>
            <a:off x="8102600" y="1524000"/>
            <a:ext cx="3594100" cy="3714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7F2BC5-1166-4D09-9077-3ADEE4706034}"/>
              </a:ext>
            </a:extLst>
          </p:cNvPr>
          <p:cNvSpPr>
            <a:spLocks noGrp="1"/>
          </p:cNvSpPr>
          <p:nvPr/>
        </p:nvSpPr>
        <p:spPr>
          <a:xfrm>
            <a:off x="82740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5C5BE-BC92-482F-A7F9-48223D8AA9A9}"/>
              </a:ext>
            </a:extLst>
          </p:cNvPr>
          <p:cNvSpPr>
            <a:spLocks noGrp="1"/>
          </p:cNvSpPr>
          <p:nvPr/>
        </p:nvSpPr>
        <p:spPr>
          <a:xfrm>
            <a:off x="82740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Trade across divides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2BF9E9-EF00-4B0F-91DD-1A05CE722BB6}"/>
              </a:ext>
            </a:extLst>
          </p:cNvPr>
          <p:cNvSpPr>
            <a:spLocks noGrp="1"/>
          </p:cNvSpPr>
          <p:nvPr/>
        </p:nvSpPr>
        <p:spPr>
          <a:xfrm>
            <a:off x="8274050" y="2533650"/>
            <a:ext cx="3251200" cy="2514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ASEAN states could trade with competing powers without joining an exclusive economic bloc.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F7FBAF-101C-4A1A-BDD7-6A2B214BD191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1201400" cy="9026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For small open economies, rules substituted for market size and geopolitical power</a:t>
            </a:r>
          </a:p>
        </p:txBody>
      </p:sp>
    </p:spTree>
    <p:extLst>
      <p:ext uri="{BB962C8B-B14F-4D97-AF65-F5344CB8AC3E}">
        <p14:creationId xmlns:p14="http://schemas.microsoft.com/office/powerpoint/2010/main" val="1467076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3DD0890-64CD-4199-B225-2F52377C92C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Three shocks changed the operating environment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BBCA8-2701-4CDE-A242-BD6CC43BED98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Each shock acts on a different part of the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3AA46-6B86-44C5-86E3-72E9CC91DF8D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DC1E8D-7253-4C5E-8A5E-4DD03FB16271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3594100" cy="3905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BC62C7-12D7-412B-ADF9-87B65F3E8591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6B793-7DCA-44A5-A484-37D4FC018747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50"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China supply and production shock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9EB9E-0EC4-4F10-A473-361BB1FDB97E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3251200" cy="2705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Scale, speed and the location of production changed competitiveness, adjustment and dependency.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C9B69A-CC15-4B2B-A7B6-22E4C1BE29EF}"/>
              </a:ext>
            </a:extLst>
          </p:cNvPr>
          <p:cNvSpPr>
            <a:spLocks noGrp="1"/>
          </p:cNvSpPr>
          <p:nvPr/>
        </p:nvSpPr>
        <p:spPr>
          <a:xfrm>
            <a:off x="4298950" y="1524000"/>
            <a:ext cx="3594100" cy="3905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FA6BF-45C6-432F-AB32-7DC507455372}"/>
              </a:ext>
            </a:extLst>
          </p:cNvPr>
          <p:cNvSpPr>
            <a:spLocks noGrp="1"/>
          </p:cNvSpPr>
          <p:nvPr/>
        </p:nvSpPr>
        <p:spPr>
          <a:xfrm>
            <a:off x="447040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1E86D-642B-4E2B-8DA2-D6A8E1244063}"/>
              </a:ext>
            </a:extLst>
          </p:cNvPr>
          <p:cNvSpPr>
            <a:spLocks noGrp="1"/>
          </p:cNvSpPr>
          <p:nvPr/>
        </p:nvSpPr>
        <p:spPr>
          <a:xfrm>
            <a:off x="447040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 transactional access shock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B01C01-6548-482A-8EBF-2210464CB172}"/>
              </a:ext>
            </a:extLst>
          </p:cNvPr>
          <p:cNvSpPr>
            <a:spLocks noGrp="1"/>
          </p:cNvSpPr>
          <p:nvPr/>
        </p:nvSpPr>
        <p:spPr>
          <a:xfrm>
            <a:off x="4470400" y="2533650"/>
            <a:ext cx="3251200" cy="2705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Access to the largest rich market became conditional on purchases, investment</a:t>
            </a:r>
            <a:r>
              <a:rPr lang="en-US"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and political concessions.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F40DE0-3864-4BE9-864C-44118B2CEA1C}"/>
              </a:ext>
            </a:extLst>
          </p:cNvPr>
          <p:cNvSpPr>
            <a:spLocks noGrp="1"/>
          </p:cNvSpPr>
          <p:nvPr/>
        </p:nvSpPr>
        <p:spPr>
          <a:xfrm>
            <a:off x="8102600" y="1524000"/>
            <a:ext cx="3594100" cy="3905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A53B9-F1B6-4E80-9302-8EDE8245FB62}"/>
              </a:ext>
            </a:extLst>
          </p:cNvPr>
          <p:cNvSpPr>
            <a:spLocks noGrp="1"/>
          </p:cNvSpPr>
          <p:nvPr/>
        </p:nvSpPr>
        <p:spPr>
          <a:xfrm>
            <a:off x="82740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3B6B2-667A-4CF3-8DB4-5D0E1AF833C9}"/>
              </a:ext>
            </a:extLst>
          </p:cNvPr>
          <p:cNvSpPr>
            <a:spLocks noGrp="1"/>
          </p:cNvSpPr>
          <p:nvPr/>
        </p:nvSpPr>
        <p:spPr>
          <a:xfrm>
            <a:off x="82740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Multilateralism and rules shock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1C2C78-0E87-4684-9B21-24BD559BD438}"/>
              </a:ext>
            </a:extLst>
          </p:cNvPr>
          <p:cNvSpPr>
            <a:spLocks noGrp="1"/>
          </p:cNvSpPr>
          <p:nvPr/>
        </p:nvSpPr>
        <p:spPr>
          <a:xfrm>
            <a:off x="8274050" y="2533650"/>
            <a:ext cx="3251200" cy="2705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Rules became less able to constrain major powers, weakening small-state bargaining positions.</a:t>
            </a:r>
          </a:p>
        </p:txBody>
      </p:sp>
    </p:spTree>
    <p:extLst>
      <p:ext uri="{BB962C8B-B14F-4D97-AF65-F5344CB8AC3E}">
        <p14:creationId xmlns:p14="http://schemas.microsoft.com/office/powerpoint/2010/main" val="1286140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D840F67-FDC5-4C5E-B1F5-7E6EB9AF9F4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China shock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236A7-3D2C-4EF8-81D0-AF66D5577424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Consumer gains arrived with concentrated and persistent adjustment costs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5102E-6150-4DFF-8D7D-16A7A64C873A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DAF99-52B5-4B31-AAC7-C5D27CDB60F8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4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1.2m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A8376-E1B2-4F9F-82A1-6BA2ABFDE7AC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Permanent US manufacturing jobs lost, 1999–2011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6A256-EB3F-4EC4-A1C9-68822E631648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10+ years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C7996-0771-49A5-9B32-C3BAE7AAF17A}"/>
              </a:ext>
            </a:extLst>
          </p:cNvPr>
          <p:cNvSpPr>
            <a:spLocks noGrp="1"/>
          </p:cNvSpPr>
          <p:nvPr/>
        </p:nvSpPr>
        <p:spPr>
          <a:xfrm>
            <a:off x="4476750" y="2619375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778"/>
          </a:bodyPr>
          <a:lstStyle/>
          <a:p>
            <a:pPr algn="ctr">
              <a:defRPr sz="1500" b="0" i="0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Wages and labour-force participation remained depressed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22AB67-C1E7-4A86-ACC7-9FD0DFF9F811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333750" cy="28575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D8620E-F7A3-46CC-8876-9E8A5F0D8A02}"/>
              </a:ext>
            </a:extLst>
          </p:cNvPr>
          <p:cNvSpPr>
            <a:spLocks noGrp="1"/>
          </p:cNvSpPr>
          <p:nvPr/>
        </p:nvSpPr>
        <p:spPr>
          <a:xfrm>
            <a:off x="8334375" y="17621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The policy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2434E-4E74-4158-B35C-9EA7AF54DAAC}"/>
              </a:ext>
            </a:extLst>
          </p:cNvPr>
          <p:cNvSpPr>
            <a:spLocks noGrp="1"/>
          </p:cNvSpPr>
          <p:nvPr/>
        </p:nvSpPr>
        <p:spPr>
          <a:xfrm>
            <a:off x="8334375" y="2238375"/>
            <a:ext cx="28575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63"/>
          </a:bodyPr>
          <a:lstStyle/>
          <a:p>
            <a:pPr algn="l"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Cheap imports benefit consumers and downstream firms. Adjustment can still overwhelm particular workers, firms and places.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AB875-91AA-43E8-9857-2F35149C2448}"/>
              </a:ext>
            </a:extLst>
          </p:cNvPr>
          <p:cNvSpPr>
            <a:spLocks noGrp="1"/>
          </p:cNvSpPr>
          <p:nvPr/>
        </p:nvSpPr>
        <p:spPr>
          <a:xfrm>
            <a:off x="762000" y="4952999"/>
            <a:ext cx="10668000" cy="132020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For ASEAN, China is at once a market, a production platform, a competitor and a source of concentrated supply</a:t>
            </a:r>
          </a:p>
        </p:txBody>
      </p:sp>
    </p:spTree>
    <p:extLst>
      <p:ext uri="{BB962C8B-B14F-4D97-AF65-F5344CB8AC3E}">
        <p14:creationId xmlns:p14="http://schemas.microsoft.com/office/powerpoint/2010/main" val="418074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4DDCAF5-42FE-4F5E-B0BB-1071444C172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US shock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4F6B16-5162-462C-A4DD-E0F399FEE6AC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ASEAN responses turned market access into negotiated exchange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6DE0F-B939-4AEC-88B4-3302B06134F4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1498F-D8B0-44D0-896E-28A599B5397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905000" cy="3429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Country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46738-10C3-4855-AE6F-E271F232D5BB}"/>
              </a:ext>
            </a:extLst>
          </p:cNvPr>
          <p:cNvSpPr>
            <a:spLocks noGrp="1"/>
          </p:cNvSpPr>
          <p:nvPr/>
        </p:nvSpPr>
        <p:spPr>
          <a:xfrm>
            <a:off x="2667000" y="1476375"/>
            <a:ext cx="1333500" cy="3429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LDT 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AA1464-E2AF-472F-B46D-08EB4C29E0EE}"/>
              </a:ext>
            </a:extLst>
          </p:cNvPr>
          <p:cNvSpPr>
            <a:spLocks noGrp="1"/>
          </p:cNvSpPr>
          <p:nvPr/>
        </p:nvSpPr>
        <p:spPr>
          <a:xfrm>
            <a:off x="4095750" y="1476375"/>
            <a:ext cx="3143250" cy="3429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After negotiation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F9DFFA-B7D6-4B56-BE8B-D8D775A631B2}"/>
              </a:ext>
            </a:extLst>
          </p:cNvPr>
          <p:cNvSpPr>
            <a:spLocks noGrp="1"/>
          </p:cNvSpPr>
          <p:nvPr/>
        </p:nvSpPr>
        <p:spPr>
          <a:xfrm>
            <a:off x="7524750" y="1476375"/>
            <a:ext cx="3810000" cy="3429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was offered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0C09A3-F095-48B7-8720-5B1215D2AEC5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90500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05ABA-F912-4DA9-96D9-9AF2DC0FDA73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752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Vietnam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01753-7CF1-4A83-85AB-069EEA52BB61}"/>
              </a:ext>
            </a:extLst>
          </p:cNvPr>
          <p:cNvSpPr>
            <a:spLocks noGrp="1"/>
          </p:cNvSpPr>
          <p:nvPr/>
        </p:nvSpPr>
        <p:spPr>
          <a:xfrm>
            <a:off x="2667000" y="1952625"/>
            <a:ext cx="133350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91BE9B-877B-4BD2-90F9-7E4EB58FC940}"/>
              </a:ext>
            </a:extLst>
          </p:cNvPr>
          <p:cNvSpPr>
            <a:spLocks noGrp="1"/>
          </p:cNvSpPr>
          <p:nvPr/>
        </p:nvSpPr>
        <p:spPr>
          <a:xfrm>
            <a:off x="2743200" y="2000250"/>
            <a:ext cx="1181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46%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0D650-D8C1-40E3-A0D7-8361D7D56012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314325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B6D4A8-1D01-4138-92D0-EE47615C1327}"/>
              </a:ext>
            </a:extLst>
          </p:cNvPr>
          <p:cNvSpPr>
            <a:spLocks noGrp="1"/>
          </p:cNvSpPr>
          <p:nvPr/>
        </p:nvSpPr>
        <p:spPr>
          <a:xfrm>
            <a:off x="4171950" y="2000250"/>
            <a:ext cx="29908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20% + 40% trans-shipments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A16B02-4C9F-4832-A99D-68AD08463016}"/>
              </a:ext>
            </a:extLst>
          </p:cNvPr>
          <p:cNvSpPr>
            <a:spLocks noGrp="1"/>
          </p:cNvSpPr>
          <p:nvPr/>
        </p:nvSpPr>
        <p:spPr>
          <a:xfrm>
            <a:off x="7524750" y="1952625"/>
            <a:ext cx="381000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03A4F-6F96-43A4-A607-5C973C6D3CEB}"/>
              </a:ext>
            </a:extLst>
          </p:cNvPr>
          <p:cNvSpPr>
            <a:spLocks noGrp="1"/>
          </p:cNvSpPr>
          <p:nvPr/>
        </p:nvSpPr>
        <p:spPr>
          <a:xfrm>
            <a:off x="7600950" y="2000250"/>
            <a:ext cx="3657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Project facilitation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80A27-5A13-4C42-8E80-4DBEE3FF446D}"/>
              </a:ext>
            </a:extLst>
          </p:cNvPr>
          <p:cNvSpPr>
            <a:spLocks noGrp="1"/>
          </p:cNvSpPr>
          <p:nvPr/>
        </p:nvSpPr>
        <p:spPr>
          <a:xfrm>
            <a:off x="666750" y="2638425"/>
            <a:ext cx="190500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6C16AB-1A74-4B9A-9A72-FCDB37546557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1752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Indonesia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E4E901-E7FF-41C3-AFE4-160474F47E4E}"/>
              </a:ext>
            </a:extLst>
          </p:cNvPr>
          <p:cNvSpPr>
            <a:spLocks noGrp="1"/>
          </p:cNvSpPr>
          <p:nvPr/>
        </p:nvSpPr>
        <p:spPr>
          <a:xfrm>
            <a:off x="2667000" y="2638425"/>
            <a:ext cx="133350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976774-123C-4F07-A7F4-6B2933C1A56A}"/>
              </a:ext>
            </a:extLst>
          </p:cNvPr>
          <p:cNvSpPr>
            <a:spLocks noGrp="1"/>
          </p:cNvSpPr>
          <p:nvPr/>
        </p:nvSpPr>
        <p:spPr>
          <a:xfrm>
            <a:off x="2743200" y="2686050"/>
            <a:ext cx="1181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32%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18748-F154-4EC8-BDEE-5141FF40EDB7}"/>
              </a:ext>
            </a:extLst>
          </p:cNvPr>
          <p:cNvSpPr>
            <a:spLocks noGrp="1"/>
          </p:cNvSpPr>
          <p:nvPr/>
        </p:nvSpPr>
        <p:spPr>
          <a:xfrm>
            <a:off x="4095750" y="2638425"/>
            <a:ext cx="314325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A23FA0-5215-426D-971F-848BC8D12909}"/>
              </a:ext>
            </a:extLst>
          </p:cNvPr>
          <p:cNvSpPr>
            <a:spLocks noGrp="1"/>
          </p:cNvSpPr>
          <p:nvPr/>
        </p:nvSpPr>
        <p:spPr>
          <a:xfrm>
            <a:off x="4171950" y="2686050"/>
            <a:ext cx="29908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19%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BACE4D-4987-4764-B326-59E9065AD464}"/>
              </a:ext>
            </a:extLst>
          </p:cNvPr>
          <p:cNvSpPr>
            <a:spLocks noGrp="1"/>
          </p:cNvSpPr>
          <p:nvPr/>
        </p:nvSpPr>
        <p:spPr>
          <a:xfrm>
            <a:off x="7524750" y="2638425"/>
            <a:ext cx="381000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2F62C3-00D8-4754-8CDC-F70C93F8C62A}"/>
              </a:ext>
            </a:extLst>
          </p:cNvPr>
          <p:cNvSpPr>
            <a:spLocks noGrp="1"/>
          </p:cNvSpPr>
          <p:nvPr/>
        </p:nvSpPr>
        <p:spPr>
          <a:xfrm>
            <a:off x="7600950" y="2686050"/>
            <a:ext cx="3657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USD34bn purchases and investment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8D4CD0-61D8-4D10-98C0-017BD5F9C495}"/>
              </a:ext>
            </a:extLst>
          </p:cNvPr>
          <p:cNvSpPr>
            <a:spLocks noGrp="1"/>
          </p:cNvSpPr>
          <p:nvPr/>
        </p:nvSpPr>
        <p:spPr>
          <a:xfrm>
            <a:off x="666750" y="3324225"/>
            <a:ext cx="190500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B84DD3-ABE3-48EE-8175-29FD3CA4B26D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1752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Malaysia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27E204-3626-4191-BFDE-2112D341A6F4}"/>
              </a:ext>
            </a:extLst>
          </p:cNvPr>
          <p:cNvSpPr>
            <a:spLocks noGrp="1"/>
          </p:cNvSpPr>
          <p:nvPr/>
        </p:nvSpPr>
        <p:spPr>
          <a:xfrm>
            <a:off x="2667000" y="3324225"/>
            <a:ext cx="133350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0F46A9-1AC5-4D9A-A404-FA8851C6B655}"/>
              </a:ext>
            </a:extLst>
          </p:cNvPr>
          <p:cNvSpPr>
            <a:spLocks noGrp="1"/>
          </p:cNvSpPr>
          <p:nvPr/>
        </p:nvSpPr>
        <p:spPr>
          <a:xfrm>
            <a:off x="2743200" y="3371850"/>
            <a:ext cx="1181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24%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DF1F0-FED1-4BFA-813C-A9F0B86889B3}"/>
              </a:ext>
            </a:extLst>
          </p:cNvPr>
          <p:cNvSpPr>
            <a:spLocks noGrp="1"/>
          </p:cNvSpPr>
          <p:nvPr/>
        </p:nvSpPr>
        <p:spPr>
          <a:xfrm>
            <a:off x="4095750" y="3324225"/>
            <a:ext cx="314325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7371FB-49A0-411F-9D10-78B02781936E}"/>
              </a:ext>
            </a:extLst>
          </p:cNvPr>
          <p:cNvSpPr>
            <a:spLocks noGrp="1"/>
          </p:cNvSpPr>
          <p:nvPr/>
        </p:nvSpPr>
        <p:spPr>
          <a:xfrm>
            <a:off x="4171950" y="3371850"/>
            <a:ext cx="29908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19%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2F5B53-68EB-4B29-9A62-EDB27D33F14B}"/>
              </a:ext>
            </a:extLst>
          </p:cNvPr>
          <p:cNvSpPr>
            <a:spLocks noGrp="1"/>
          </p:cNvSpPr>
          <p:nvPr/>
        </p:nvSpPr>
        <p:spPr>
          <a:xfrm>
            <a:off x="7524750" y="3324225"/>
            <a:ext cx="3810000" cy="5905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086783-4BE6-4067-BBA2-120D07C9BD5A}"/>
              </a:ext>
            </a:extLst>
          </p:cNvPr>
          <p:cNvSpPr>
            <a:spLocks noGrp="1"/>
          </p:cNvSpPr>
          <p:nvPr/>
        </p:nvSpPr>
        <p:spPr>
          <a:xfrm>
            <a:off x="7600950" y="3371850"/>
            <a:ext cx="3657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USD240bn commitments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9F7704-3FC0-44E0-928F-6FE159769508}"/>
              </a:ext>
            </a:extLst>
          </p:cNvPr>
          <p:cNvSpPr>
            <a:spLocks noGrp="1"/>
          </p:cNvSpPr>
          <p:nvPr/>
        </p:nvSpPr>
        <p:spPr>
          <a:xfrm>
            <a:off x="666750" y="4010025"/>
            <a:ext cx="190500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8EE780-AC7D-42AB-80F0-D44D2BA3B1C7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1752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Singapore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5449EB-41CF-4CBC-A5AA-BB4DC9F84F5E}"/>
              </a:ext>
            </a:extLst>
          </p:cNvPr>
          <p:cNvSpPr>
            <a:spLocks noGrp="1"/>
          </p:cNvSpPr>
          <p:nvPr/>
        </p:nvSpPr>
        <p:spPr>
          <a:xfrm>
            <a:off x="2667000" y="4010025"/>
            <a:ext cx="133350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040E40-B933-4E45-A603-6AB1C2187D67}"/>
              </a:ext>
            </a:extLst>
          </p:cNvPr>
          <p:cNvSpPr>
            <a:spLocks noGrp="1"/>
          </p:cNvSpPr>
          <p:nvPr/>
        </p:nvSpPr>
        <p:spPr>
          <a:xfrm>
            <a:off x="2743200" y="4057650"/>
            <a:ext cx="1181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D8AC1A-9340-414A-9BF7-91728DCA61C8}"/>
              </a:ext>
            </a:extLst>
          </p:cNvPr>
          <p:cNvSpPr>
            <a:spLocks noGrp="1"/>
          </p:cNvSpPr>
          <p:nvPr/>
        </p:nvSpPr>
        <p:spPr>
          <a:xfrm>
            <a:off x="4095750" y="4010025"/>
            <a:ext cx="314325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DCD80A-E3CE-461C-A98D-9BF2F3FF1D1C}"/>
              </a:ext>
            </a:extLst>
          </p:cNvPr>
          <p:cNvSpPr>
            <a:spLocks noGrp="1"/>
          </p:cNvSpPr>
          <p:nvPr/>
        </p:nvSpPr>
        <p:spPr>
          <a:xfrm>
            <a:off x="4171950" y="4057650"/>
            <a:ext cx="29908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10% baseline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2D8DC4-D362-4FFC-9B27-B9FEB95DD88C}"/>
              </a:ext>
            </a:extLst>
          </p:cNvPr>
          <p:cNvSpPr>
            <a:spLocks noGrp="1"/>
          </p:cNvSpPr>
          <p:nvPr/>
        </p:nvSpPr>
        <p:spPr>
          <a:xfrm>
            <a:off x="7524750" y="4010025"/>
            <a:ext cx="381000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5E0594-651D-4EDF-B36B-E338D6598F87}"/>
              </a:ext>
            </a:extLst>
          </p:cNvPr>
          <p:cNvSpPr>
            <a:spLocks noGrp="1"/>
          </p:cNvSpPr>
          <p:nvPr/>
        </p:nvSpPr>
        <p:spPr>
          <a:xfrm>
            <a:off x="7600950" y="4057650"/>
            <a:ext cx="3657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Quiet diplomacy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AD473E-E946-40A7-B2F6-F077A409EDF4}"/>
              </a:ext>
            </a:extLst>
          </p:cNvPr>
          <p:cNvSpPr>
            <a:spLocks noGrp="1"/>
          </p:cNvSpPr>
          <p:nvPr/>
        </p:nvSpPr>
        <p:spPr>
          <a:xfrm>
            <a:off x="666750" y="5000624"/>
            <a:ext cx="10668000" cy="124068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Market access increasingly came with a price tag</a:t>
            </a:r>
          </a:p>
        </p:txBody>
      </p:sp>
    </p:spTree>
    <p:extLst>
      <p:ext uri="{BB962C8B-B14F-4D97-AF65-F5344CB8AC3E}">
        <p14:creationId xmlns:p14="http://schemas.microsoft.com/office/powerpoint/2010/main" val="191821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97E374-43B8-434B-91DB-294D2BEC13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geoeconomic turn survived legal setback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EF936E-00A0-45D6-99F7-E4DF7C552CE6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The instrument changed. The strategic objective persisted.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836D62-2CF9-458F-96CF-487575154EF8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326E7-8814-403D-ACDC-C98E3ADDE12C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4953000" cy="32385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3F47A-CE33-4CE9-9070-734FBC5BCF99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Supreme Court, February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A839B-5C96-4C4A-B152-26C477539BD9}"/>
              </a:ext>
            </a:extLst>
          </p:cNvPr>
          <p:cNvSpPr>
            <a:spLocks noGrp="1"/>
          </p:cNvSpPr>
          <p:nvPr/>
        </p:nvSpPr>
        <p:spPr>
          <a:xfrm>
            <a:off x="904875" y="2476499"/>
            <a:ext cx="4476750" cy="19998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Court held that IEEPA did not </a:t>
            </a:r>
            <a:r>
              <a:rPr sz="2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authorise</a:t>
            </a:r>
            <a:r>
              <a:rPr sz="2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the Liberation Day tariffs. Importers became entitled to refunds.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902F0E-6D62-431D-869B-D6EBFDBAA8DA}"/>
              </a:ext>
            </a:extLst>
          </p:cNvPr>
          <p:cNvSpPr>
            <a:spLocks noGrp="1"/>
          </p:cNvSpPr>
          <p:nvPr/>
        </p:nvSpPr>
        <p:spPr>
          <a:xfrm>
            <a:off x="6191250" y="1571625"/>
            <a:ext cx="5334000" cy="32385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5314EC-7697-4095-B4B5-BA6BD03EDBB0}"/>
              </a:ext>
            </a:extLst>
          </p:cNvPr>
          <p:cNvSpPr>
            <a:spLocks noGrp="1"/>
          </p:cNvSpPr>
          <p:nvPr/>
        </p:nvSpPr>
        <p:spPr>
          <a:xfrm>
            <a:off x="6429375" y="185737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What replaced the LDTs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193C8B-C2EA-45DC-BF01-ED500A85E4B1}"/>
              </a:ext>
            </a:extLst>
          </p:cNvPr>
          <p:cNvSpPr>
            <a:spLocks noGrp="1"/>
          </p:cNvSpPr>
          <p:nvPr/>
        </p:nvSpPr>
        <p:spPr>
          <a:xfrm>
            <a:off x="6429375" y="2428875"/>
            <a:ext cx="4762500" cy="214312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Section 122: temporary 10% global baseline tariff for 150 days</a:t>
            </a:r>
          </a:p>
          <a:p>
            <a:pPr algn="l">
              <a:defRPr sz="16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Section 301: targeted tariffs on forced-</a:t>
            </a:r>
            <a:r>
              <a:rPr sz="2400" b="0" i="0" dirty="0" err="1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labour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and overcapacity grounds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95CD91-6242-424C-8175-EBEC95FBC766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0858500" cy="98129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lang="en-US"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ourt ruling removed one legal route, not the geoeconomic policy turn</a:t>
            </a:r>
          </a:p>
        </p:txBody>
      </p:sp>
    </p:spTree>
    <p:extLst>
      <p:ext uri="{BB962C8B-B14F-4D97-AF65-F5344CB8AC3E}">
        <p14:creationId xmlns:p14="http://schemas.microsoft.com/office/powerpoint/2010/main" val="4619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ED8DF3-CF30-4BD2-9116-976CA3DC6E4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8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multilateralism shock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4B2956-774E-4899-97AD-14C567647716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China and the US altered relationships. Rules erosion altered </a:t>
            </a:r>
            <a:r>
              <a:rPr lang="en-US" sz="120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management of</a:t>
            </a:r>
            <a:r>
              <a:rPr sz="1200" b="0" i="1" dirty="0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 all relationships.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45A140-ACA3-4EB6-B7EB-BF5F6CCCBF19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B4EF9-CFC5-4521-A216-FCF7E247A304}"/>
              </a:ext>
            </a:extLst>
          </p:cNvPr>
          <p:cNvSpPr>
            <a:spLocks noGrp="1"/>
          </p:cNvSpPr>
          <p:nvPr/>
        </p:nvSpPr>
        <p:spPr>
          <a:xfrm>
            <a:off x="904875" y="17621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Rules-based world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99717-B265-4B00-B7EF-C2E777427A2F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Power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62002-D820-4500-ADB4-D3CCF905BB98}"/>
              </a:ext>
            </a:extLst>
          </p:cNvPr>
          <p:cNvSpPr>
            <a:spLocks noGrp="1"/>
          </p:cNvSpPr>
          <p:nvPr/>
        </p:nvSpPr>
        <p:spPr>
          <a:xfrm>
            <a:off x="2428875" y="2476500"/>
            <a:ext cx="1143000" cy="47625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622BC4-1E34-4290-A109-7A40719B8904}"/>
              </a:ext>
            </a:extLst>
          </p:cNvPr>
          <p:cNvSpPr>
            <a:spLocks noGrp="1"/>
          </p:cNvSpPr>
          <p:nvPr/>
        </p:nvSpPr>
        <p:spPr>
          <a:xfrm>
            <a:off x="3952875" y="2476500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outcomes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2CE72-F9DD-41B4-B2EC-E9EEA150E00D}"/>
              </a:ext>
            </a:extLst>
          </p:cNvPr>
          <p:cNvSpPr>
            <a:spLocks noGrp="1"/>
          </p:cNvSpPr>
          <p:nvPr/>
        </p:nvSpPr>
        <p:spPr>
          <a:xfrm>
            <a:off x="6810375" y="17621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Power-based world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B2111-6E62-4816-8F19-B37FC88593EA}"/>
              </a:ext>
            </a:extLst>
          </p:cNvPr>
          <p:cNvSpPr>
            <a:spLocks noGrp="1"/>
          </p:cNvSpPr>
          <p:nvPr/>
        </p:nvSpPr>
        <p:spPr>
          <a:xfrm>
            <a:off x="7048500" y="2476500"/>
            <a:ext cx="1714500" cy="47625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B926E9-0A5C-4D4A-A9AD-E8124611F65A}"/>
              </a:ext>
            </a:extLst>
          </p:cNvPr>
          <p:cNvSpPr>
            <a:spLocks noGrp="1"/>
          </p:cNvSpPr>
          <p:nvPr/>
        </p:nvSpPr>
        <p:spPr>
          <a:xfrm>
            <a:off x="9334500" y="2476500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outcomes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DF57EF-6B1B-4FA8-B0B2-7B2821CB3654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10763250" cy="1704974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2D3C67-A086-4BAD-BF0B-39DD39B43AC4}"/>
              </a:ext>
            </a:extLst>
          </p:cNvPr>
          <p:cNvSpPr>
            <a:spLocks noGrp="1"/>
          </p:cNvSpPr>
          <p:nvPr/>
        </p:nvSpPr>
        <p:spPr>
          <a:xfrm>
            <a:off x="1047750" y="4403213"/>
            <a:ext cx="10096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0"/>
          </a:bodyPr>
          <a:lstStyle/>
          <a:p>
            <a:pPr algn="ctr">
              <a:defRPr sz="20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When exceptions multiply and dispute settlement weakens, small states lose the institutional leverage that made </a:t>
            </a:r>
            <a:r>
              <a:rPr lang="en-US"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engagement</a:t>
            </a: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beneficial</a:t>
            </a:r>
            <a:endParaRPr sz="2400" b="1" i="0" dirty="0">
              <a:solidFill>
                <a:srgbClr val="263B3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1234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44EEE5-95CB-4DB9-81A0-4D3D3C2446ED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BREAK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5403BD-E809-4F80-A72B-907123E975EF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an economic environment to an arena of state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40AAC2-A6E5-4E5E-BA5F-40ADEB983217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A9CCCC-7300-4622-90B5-64E9E7059929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After the break: what does the new order mean when the small state is Brunei?</a:t>
            </a:r>
          </a:p>
        </p:txBody>
      </p:sp>
    </p:spTree>
    <p:extLst>
      <p:ext uri="{BB962C8B-B14F-4D97-AF65-F5344CB8AC3E}">
        <p14:creationId xmlns:p14="http://schemas.microsoft.com/office/powerpoint/2010/main" val="1020929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2498C4-D2B7-4369-B8BB-70282B0663A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Brunei, hydrocarbons</a:t>
            </a:r>
            <a:r>
              <a:rPr lang="en-US" sz="2325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325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and China investment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6B0642-6033-4137-AA40-E342A1B7ECD4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Class 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92658A-5A7C-4A6A-87E2-08991CA17950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D337C0-5C9A-411C-87ED-75DCDBFFA684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3594100" cy="3143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0BCDB4-2CB9-44E4-8A71-F6C34C0567E3}"/>
              </a:ext>
            </a:extLst>
          </p:cNvPr>
          <p:cNvSpPr>
            <a:spLocks noGrp="1"/>
          </p:cNvSpPr>
          <p:nvPr/>
        </p:nvSpPr>
        <p:spPr>
          <a:xfrm>
            <a:off x="66675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9F996-C366-4422-AB45-F071B408B5B6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Opportunity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C98484-6C81-47A2-916A-31434B0A74E6}"/>
              </a:ext>
            </a:extLst>
          </p:cNvPr>
          <p:cNvSpPr>
            <a:spLocks noGrp="1"/>
          </p:cNvSpPr>
          <p:nvPr/>
        </p:nvSpPr>
        <p:spPr>
          <a:xfrm>
            <a:off x="666750" y="2486025"/>
            <a:ext cx="3251200" cy="1943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Capital, demand</a:t>
            </a:r>
            <a:r>
              <a:rPr lang="en-US"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and infrastructure can support diversification and development.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A08E7-8BD5-4DFC-AECF-6A4BA8C9681F}"/>
              </a:ext>
            </a:extLst>
          </p:cNvPr>
          <p:cNvSpPr>
            <a:spLocks noGrp="1"/>
          </p:cNvSpPr>
          <p:nvPr/>
        </p:nvSpPr>
        <p:spPr>
          <a:xfrm>
            <a:off x="4298950" y="1476375"/>
            <a:ext cx="3594100" cy="3143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5BE8F2-D6EC-43BE-A5B5-804D994E2A7C}"/>
              </a:ext>
            </a:extLst>
          </p:cNvPr>
          <p:cNvSpPr>
            <a:spLocks noGrp="1"/>
          </p:cNvSpPr>
          <p:nvPr/>
        </p:nvSpPr>
        <p:spPr>
          <a:xfrm>
            <a:off x="447040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733BCE-362D-4E2B-9C77-51AA186B189B}"/>
              </a:ext>
            </a:extLst>
          </p:cNvPr>
          <p:cNvSpPr>
            <a:spLocks noGrp="1"/>
          </p:cNvSpPr>
          <p:nvPr/>
        </p:nvSpPr>
        <p:spPr>
          <a:xfrm>
            <a:off x="447040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Dependency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9781A3-7402-4CE9-A333-A4847AA7AC62}"/>
              </a:ext>
            </a:extLst>
          </p:cNvPr>
          <p:cNvSpPr>
            <a:spLocks noGrp="1"/>
          </p:cNvSpPr>
          <p:nvPr/>
        </p:nvSpPr>
        <p:spPr>
          <a:xfrm>
            <a:off x="4470400" y="2486025"/>
            <a:ext cx="3251200" cy="1943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 narrow export base and concentrated investment can limit future room for </a:t>
            </a:r>
            <a:r>
              <a:rPr sz="2400" b="0" i="0" dirty="0" err="1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manoeuvre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BCBF6-6704-4A5A-8655-4CF3AC211463}"/>
              </a:ext>
            </a:extLst>
          </p:cNvPr>
          <p:cNvSpPr>
            <a:spLocks noGrp="1"/>
          </p:cNvSpPr>
          <p:nvPr/>
        </p:nvSpPr>
        <p:spPr>
          <a:xfrm>
            <a:off x="8102600" y="1476375"/>
            <a:ext cx="3594100" cy="3143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B07EC9-BDA1-4DDE-977B-FEAAD3EFFAD3}"/>
              </a:ext>
            </a:extLst>
          </p:cNvPr>
          <p:cNvSpPr>
            <a:spLocks noGrp="1"/>
          </p:cNvSpPr>
          <p:nvPr/>
        </p:nvSpPr>
        <p:spPr>
          <a:xfrm>
            <a:off x="827405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426BF2-12E8-4060-98D5-D07685C458C9}"/>
              </a:ext>
            </a:extLst>
          </p:cNvPr>
          <p:cNvSpPr>
            <a:spLocks noGrp="1"/>
          </p:cNvSpPr>
          <p:nvPr/>
        </p:nvSpPr>
        <p:spPr>
          <a:xfrm>
            <a:off x="827405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Leverage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72F813-48BC-4516-BC82-AFB3443C3968}"/>
              </a:ext>
            </a:extLst>
          </p:cNvPr>
          <p:cNvSpPr>
            <a:spLocks noGrp="1"/>
          </p:cNvSpPr>
          <p:nvPr/>
        </p:nvSpPr>
        <p:spPr>
          <a:xfrm>
            <a:off x="8274050" y="2486025"/>
            <a:ext cx="3251200" cy="1943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Which assets, relationships</a:t>
            </a:r>
            <a:r>
              <a:rPr lang="en-US"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or institutions allow Brunei to shape the bargain?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3C00B-0F99-4E19-8C38-CFBCAEBE6E0A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477500" cy="762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3134B3-FA78-4F32-9F19-5327AC025B4A}"/>
              </a:ext>
            </a:extLst>
          </p:cNvPr>
          <p:cNvSpPr>
            <a:spLocks noGrp="1"/>
          </p:cNvSpPr>
          <p:nvPr/>
        </p:nvSpPr>
        <p:spPr>
          <a:xfrm>
            <a:off x="1143000" y="5143500"/>
            <a:ext cx="9906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6"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commercial interdependence, what is strategic exposure, and what can Brunei aggregate with others?</a:t>
            </a:r>
          </a:p>
        </p:txBody>
      </p:sp>
    </p:spTree>
    <p:extLst>
      <p:ext uri="{BB962C8B-B14F-4D97-AF65-F5344CB8AC3E}">
        <p14:creationId xmlns:p14="http://schemas.microsoft.com/office/powerpoint/2010/main" val="1036175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D7EA0E-D024-4B2C-A854-AC9878EB2BF8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THREE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D98AF7-75E6-41E0-9439-384AA6E2FDF2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Geoeconomics and strategic interdependence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67236C-26E7-489D-A694-FB80B03C1390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22C89-B4F4-46E1-B961-A5E414AD61BE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Diagnosis, mechanisms and small-state agency</a:t>
            </a:r>
          </a:p>
        </p:txBody>
      </p:sp>
    </p:spTree>
    <p:extLst>
      <p:ext uri="{BB962C8B-B14F-4D97-AF65-F5344CB8AC3E}">
        <p14:creationId xmlns:p14="http://schemas.microsoft.com/office/powerpoint/2010/main" val="62573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B0B0BE-676B-4D56-B1C5-70CED434AFF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Guns or butter?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48BABF-C621-4B9A-9B30-DB12F2457E67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But what if butter becomes a weapon?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C6A04-5AEA-4D1D-A9E3-810EDE2B13BD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2D643-28B0-4A54-8361-37AA2A5A4D1E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5143500" cy="3048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7213B-11D6-4AEB-8E0B-175E107CDFAF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Guns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D4903-92EC-4A7C-93E9-6AF5E4DD1DE4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45720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National security protects people, territory, sovereignty and political independence from threats.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27C8A-20F6-4827-9AD5-9E4BEDFBD623}"/>
              </a:ext>
            </a:extLst>
          </p:cNvPr>
          <p:cNvSpPr>
            <a:spLocks noGrp="1"/>
          </p:cNvSpPr>
          <p:nvPr/>
        </p:nvSpPr>
        <p:spPr>
          <a:xfrm>
            <a:off x="6381750" y="1666875"/>
            <a:ext cx="5143500" cy="3048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3FDC57-801B-4B46-9E94-906D96C428B8}"/>
              </a:ext>
            </a:extLst>
          </p:cNvPr>
          <p:cNvSpPr>
            <a:spLocks noGrp="1"/>
          </p:cNvSpPr>
          <p:nvPr/>
        </p:nvSpPr>
        <p:spPr>
          <a:xfrm>
            <a:off x="6619875" y="195262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Butter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2F0095-F1B2-4047-A201-DADEEBCA1C62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45720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Economic security protects livelihoods and reliable access to the material foundations of well-being.</a:t>
            </a:r>
          </a:p>
        </p:txBody>
      </p:sp>
    </p:spTree>
    <p:extLst>
      <p:ext uri="{BB962C8B-B14F-4D97-AF65-F5344CB8AC3E}">
        <p14:creationId xmlns:p14="http://schemas.microsoft.com/office/powerpoint/2010/main" val="270837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2B271F-2F6A-415C-82BA-C5FF8B6E8CC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Two securities, two objects of protection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D2A92-28CD-44D2-89A8-4485B7A44266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Interdependence makes the distinction harder and more important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C1BAD-9F69-4759-A207-BF208194F35F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D1B00-26A7-49FD-99D5-ECCB1E874058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143500" cy="3524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95AB4-4C9B-4337-B46E-2396F196D68F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National security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0D576-93BF-4FF5-B5F0-E0D13D8C98B3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4476750" cy="190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Diplomatic and military capability</a:t>
            </a:r>
          </a:p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Intelligence and cyber capability</a:t>
            </a:r>
          </a:p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Protection from external and internal threats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15B42-7EAB-4BFB-8FE7-2054B890C1E0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143500" cy="35242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97629-0BD2-4D38-8402-F8B4428035F5}"/>
              </a:ext>
            </a:extLst>
          </p:cNvPr>
          <p:cNvSpPr>
            <a:spLocks noGrp="1"/>
          </p:cNvSpPr>
          <p:nvPr/>
        </p:nvSpPr>
        <p:spPr>
          <a:xfrm>
            <a:off x="6619875" y="185737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Economic security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797C8F-9BF6-466E-A36C-16ED76E41BD5}"/>
              </a:ext>
            </a:extLst>
          </p:cNvPr>
          <p:cNvSpPr>
            <a:spLocks noGrp="1"/>
          </p:cNvSpPr>
          <p:nvPr/>
        </p:nvSpPr>
        <p:spPr>
          <a:xfrm>
            <a:off x="6619875" y="2476500"/>
            <a:ext cx="4476750" cy="190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Livelihoods and trade</a:t>
            </a:r>
          </a:p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Infrastructure, food and energy</a:t>
            </a:r>
          </a:p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Reliable access to essential resources</a:t>
            </a:r>
          </a:p>
        </p:txBody>
      </p:sp>
    </p:spTree>
    <p:extLst>
      <p:ext uri="{BB962C8B-B14F-4D97-AF65-F5344CB8AC3E}">
        <p14:creationId xmlns:p14="http://schemas.microsoft.com/office/powerpoint/2010/main" val="181018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85BAAB-D435-40DB-8972-9C4151E573A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Strategic interdependence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1CB036-5688-4C7C-9F18-4C456406C488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Mutual gains remain, but dependency can become leverage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B035A9-68F6-441E-852B-ACCC1101C699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61104-61E4-43F7-92DF-F3DF3CE32598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3594100" cy="3714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FE108-72A3-4C84-B235-1AEB5D3BBD74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338FFC-5944-4F2D-8BBC-322C53B5FB1F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Dual-use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F69AE9-37CD-4DD8-91A0-901D4082C6C6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3251200" cy="2514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Semiconductors, grids, batteries, data and logistics support civilian welfare and national power.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A2FA8E-32EB-4512-987C-016A12C5BBAA}"/>
              </a:ext>
            </a:extLst>
          </p:cNvPr>
          <p:cNvSpPr>
            <a:spLocks noGrp="1"/>
          </p:cNvSpPr>
          <p:nvPr/>
        </p:nvSpPr>
        <p:spPr>
          <a:xfrm>
            <a:off x="4298950" y="1524000"/>
            <a:ext cx="3594100" cy="3714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3F7B6-4F6F-494E-960A-63D245379E85}"/>
              </a:ext>
            </a:extLst>
          </p:cNvPr>
          <p:cNvSpPr>
            <a:spLocks noGrp="1"/>
          </p:cNvSpPr>
          <p:nvPr/>
        </p:nvSpPr>
        <p:spPr>
          <a:xfrm>
            <a:off x="447040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DDB904-1A65-48DA-B1A6-C91061E5473A}"/>
              </a:ext>
            </a:extLst>
          </p:cNvPr>
          <p:cNvSpPr>
            <a:spLocks noGrp="1"/>
          </p:cNvSpPr>
          <p:nvPr/>
        </p:nvSpPr>
        <p:spPr>
          <a:xfrm>
            <a:off x="447040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Concentrated exposure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D0CF29-461E-4E5D-BBCB-3C77E37FD3AD}"/>
              </a:ext>
            </a:extLst>
          </p:cNvPr>
          <p:cNvSpPr>
            <a:spLocks noGrp="1"/>
          </p:cNvSpPr>
          <p:nvPr/>
        </p:nvSpPr>
        <p:spPr>
          <a:xfrm>
            <a:off x="4470400" y="2533650"/>
            <a:ext cx="3251200" cy="2514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 narrow supplier or buyer base can turn a disruption into a security problem.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F33366-3529-4EE5-8B9A-2B607589939E}"/>
              </a:ext>
            </a:extLst>
          </p:cNvPr>
          <p:cNvSpPr>
            <a:spLocks noGrp="1"/>
          </p:cNvSpPr>
          <p:nvPr/>
        </p:nvSpPr>
        <p:spPr>
          <a:xfrm>
            <a:off x="8102600" y="1524000"/>
            <a:ext cx="3594100" cy="371475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29939A-CFF4-499B-9A40-CE212E52C3E1}"/>
              </a:ext>
            </a:extLst>
          </p:cNvPr>
          <p:cNvSpPr>
            <a:spLocks noGrp="1"/>
          </p:cNvSpPr>
          <p:nvPr/>
        </p:nvSpPr>
        <p:spPr>
          <a:xfrm>
            <a:off x="82740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0DD1AA-E08B-4106-945D-02573FF5C6C0}"/>
              </a:ext>
            </a:extLst>
          </p:cNvPr>
          <p:cNvSpPr>
            <a:spLocks noGrp="1"/>
          </p:cNvSpPr>
          <p:nvPr/>
        </p:nvSpPr>
        <p:spPr>
          <a:xfrm>
            <a:off x="82740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Policy leverage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6CE87-881B-4659-9D71-D4981360D36F}"/>
              </a:ext>
            </a:extLst>
          </p:cNvPr>
          <p:cNvSpPr>
            <a:spLocks noGrp="1"/>
          </p:cNvSpPr>
          <p:nvPr/>
        </p:nvSpPr>
        <p:spPr>
          <a:xfrm>
            <a:off x="8274050" y="2533650"/>
            <a:ext cx="3251200" cy="2514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Export controls, sanctions and investment screening act through those dependencies.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94F4E0-ABDC-4DAB-A53D-3750052710D2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12014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Intentionality turns vulnerability into economic statecraft</a:t>
            </a:r>
          </a:p>
        </p:txBody>
      </p:sp>
    </p:spTree>
    <p:extLst>
      <p:ext uri="{BB962C8B-B14F-4D97-AF65-F5344CB8AC3E}">
        <p14:creationId xmlns:p14="http://schemas.microsoft.com/office/powerpoint/2010/main" val="1903161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E205A90-E787-4D0A-A9CF-6A8F44758AD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The toolkit of economic statecraft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01138D-F2A5-41AD-9C23-D56D78993069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States can restrict access, redirect production or purchase influence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0DF9F6-E652-4835-A514-C927D4EB7425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8F58D4-63D1-4084-A4F4-D65068B05A1A}"/>
              </a:ext>
            </a:extLst>
          </p:cNvPr>
          <p:cNvSpPr>
            <a:spLocks noGrp="1"/>
          </p:cNvSpPr>
          <p:nvPr/>
        </p:nvSpPr>
        <p:spPr>
          <a:xfrm>
            <a:off x="666750" y="1409700"/>
            <a:ext cx="10858500" cy="4953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5E840-CF22-4214-8676-41ED578FD87F}"/>
              </a:ext>
            </a:extLst>
          </p:cNvPr>
          <p:cNvSpPr>
            <a:spLocks noGrp="1"/>
          </p:cNvSpPr>
          <p:nvPr/>
        </p:nvSpPr>
        <p:spPr>
          <a:xfrm>
            <a:off x="857250" y="14573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Tariffs, quotas, import bans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06900-10DD-447A-B44E-355784DB1F32}"/>
              </a:ext>
            </a:extLst>
          </p:cNvPr>
          <p:cNvSpPr>
            <a:spLocks noGrp="1"/>
          </p:cNvSpPr>
          <p:nvPr/>
        </p:nvSpPr>
        <p:spPr>
          <a:xfrm>
            <a:off x="4810125" y="145732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Restrict market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1922FB-07CC-46F4-ADB5-3E5DB2E37F3F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Export controls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B991F-D7D6-4D58-9367-665660292056}"/>
              </a:ext>
            </a:extLst>
          </p:cNvPr>
          <p:cNvSpPr>
            <a:spLocks noGrp="1"/>
          </p:cNvSpPr>
          <p:nvPr/>
        </p:nvSpPr>
        <p:spPr>
          <a:xfrm>
            <a:off x="4810125" y="204787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Deny advanced 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24FCC-1468-4D01-903B-7D89862ECB0A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10858500" cy="4953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10089-D423-4ECB-BE5B-F2A46BF56EAA}"/>
              </a:ext>
            </a:extLst>
          </p:cNvPr>
          <p:cNvSpPr>
            <a:spLocks noGrp="1"/>
          </p:cNvSpPr>
          <p:nvPr/>
        </p:nvSpPr>
        <p:spPr>
          <a:xfrm>
            <a:off x="857250" y="26384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Investment restrictions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1E9AE9-84E6-420C-B14B-0F5BEA3E633C}"/>
              </a:ext>
            </a:extLst>
          </p:cNvPr>
          <p:cNvSpPr>
            <a:spLocks noGrp="1"/>
          </p:cNvSpPr>
          <p:nvPr/>
        </p:nvSpPr>
        <p:spPr>
          <a:xfrm>
            <a:off x="4810125" y="263842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Block sensitive acquisitions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36C8D-0545-4CBC-ACB0-7C28BB9519AE}"/>
              </a:ext>
            </a:extLst>
          </p:cNvPr>
          <p:cNvSpPr>
            <a:spLocks noGrp="1"/>
          </p:cNvSpPr>
          <p:nvPr/>
        </p:nvSpPr>
        <p:spPr>
          <a:xfrm>
            <a:off x="857250" y="322897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Sanctions and asset freezes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4EDFDB-4AE5-441A-AF03-939A176E7A57}"/>
              </a:ext>
            </a:extLst>
          </p:cNvPr>
          <p:cNvSpPr>
            <a:spLocks noGrp="1"/>
          </p:cNvSpPr>
          <p:nvPr/>
        </p:nvSpPr>
        <p:spPr>
          <a:xfrm>
            <a:off x="4810125" y="322897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Use financial infrastructure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4DC26E-DF1B-439E-A5C0-281FBBF13F84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10858500" cy="4953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C61FEF-2473-4070-9619-BF7775805E49}"/>
              </a:ext>
            </a:extLst>
          </p:cNvPr>
          <p:cNvSpPr>
            <a:spLocks noGrp="1"/>
          </p:cNvSpPr>
          <p:nvPr/>
        </p:nvSpPr>
        <p:spPr>
          <a:xfrm>
            <a:off x="857250" y="38195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Subsidies and industrial policy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CE5E2A-0B38-4FE1-AB58-E951419AB5C4}"/>
              </a:ext>
            </a:extLst>
          </p:cNvPr>
          <p:cNvSpPr>
            <a:spLocks noGrp="1"/>
          </p:cNvSpPr>
          <p:nvPr/>
        </p:nvSpPr>
        <p:spPr>
          <a:xfrm>
            <a:off x="4810125" y="381952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Build domestic capacity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66528C-BAF2-4EA7-9B88-C112915CACA3}"/>
              </a:ext>
            </a:extLst>
          </p:cNvPr>
          <p:cNvSpPr>
            <a:spLocks noGrp="1"/>
          </p:cNvSpPr>
          <p:nvPr/>
        </p:nvSpPr>
        <p:spPr>
          <a:xfrm>
            <a:off x="857250" y="441007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Aid and concessionary loans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6C9E7-70D2-45BF-9E91-75E98EA63954}"/>
              </a:ext>
            </a:extLst>
          </p:cNvPr>
          <p:cNvSpPr>
            <a:spLocks noGrp="1"/>
          </p:cNvSpPr>
          <p:nvPr/>
        </p:nvSpPr>
        <p:spPr>
          <a:xfrm>
            <a:off x="4810125" y="441007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Shape partner choices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EC97A9-49FD-4462-88F6-2B596529477A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858500" cy="4953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ABE012-0692-46D5-ADB9-4A8A3CA3C4CB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Preferential agreements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7BD8D7-A76B-48AE-8BB5-10017B01D897}"/>
              </a:ext>
            </a:extLst>
          </p:cNvPr>
          <p:cNvSpPr>
            <a:spLocks noGrp="1"/>
          </p:cNvSpPr>
          <p:nvPr/>
        </p:nvSpPr>
        <p:spPr>
          <a:xfrm>
            <a:off x="4810125" y="5000625"/>
            <a:ext cx="638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Reward partners or exclude rivals</a:t>
            </a:r>
          </a:p>
        </p:txBody>
      </p:sp>
    </p:spTree>
    <p:extLst>
      <p:ext uri="{BB962C8B-B14F-4D97-AF65-F5344CB8AC3E}">
        <p14:creationId xmlns:p14="http://schemas.microsoft.com/office/powerpoint/2010/main" val="638914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89905A5-E84E-459B-ACB0-9DFAC0BCE09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Economic statecraft has two practical dimensions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0ECC9-9B33-43A3-9541-0BC592154EED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Who receives the instrument, and whether it offers benefit or imposes cost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A0059B-6A96-4265-A6F4-B1D334243AC3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06AAD-B050-4A38-A135-F29C51590B03}"/>
              </a:ext>
            </a:extLst>
          </p:cNvPr>
          <p:cNvSpPr>
            <a:spLocks noGrp="1"/>
          </p:cNvSpPr>
          <p:nvPr/>
        </p:nvSpPr>
        <p:spPr>
          <a:xfrm>
            <a:off x="4095750" y="1352550"/>
            <a:ext cx="3333750" cy="333375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CARROT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857E7-F295-4A08-A254-CA7153BB2C8D}"/>
              </a:ext>
            </a:extLst>
          </p:cNvPr>
          <p:cNvSpPr>
            <a:spLocks noGrp="1"/>
          </p:cNvSpPr>
          <p:nvPr/>
        </p:nvSpPr>
        <p:spPr>
          <a:xfrm>
            <a:off x="7620000" y="1352550"/>
            <a:ext cx="3333750" cy="333375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STICK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34B55-8B33-425A-BA5C-078D90E659D6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2381250" cy="762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D19EE-6165-4629-83BB-400859ED23CA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2381250" cy="762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TARGETED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C096E2-3090-408F-8F4F-E1851EC7DAF3}"/>
              </a:ext>
            </a:extLst>
          </p:cNvPr>
          <p:cNvSpPr>
            <a:spLocks noGrp="1"/>
          </p:cNvSpPr>
          <p:nvPr/>
        </p:nvSpPr>
        <p:spPr>
          <a:xfrm>
            <a:off x="3333750" y="1857375"/>
            <a:ext cx="4000500" cy="1381125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7D44B3-3105-4E69-84A2-40494666FBF4}"/>
              </a:ext>
            </a:extLst>
          </p:cNvPr>
          <p:cNvSpPr>
            <a:spLocks noGrp="1"/>
          </p:cNvSpPr>
          <p:nvPr/>
        </p:nvSpPr>
        <p:spPr>
          <a:xfrm>
            <a:off x="3571875" y="2047875"/>
            <a:ext cx="3524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Broad incentives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045012-F8D3-4E44-B12E-E6C3B6DD21F8}"/>
              </a:ext>
            </a:extLst>
          </p:cNvPr>
          <p:cNvSpPr>
            <a:spLocks noGrp="1"/>
          </p:cNvSpPr>
          <p:nvPr/>
        </p:nvSpPr>
        <p:spPr>
          <a:xfrm>
            <a:off x="3571875" y="2476500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Open liberalisation or general aid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8AC8D2-6B7A-4CD3-916E-59FFE9F3B34C}"/>
              </a:ext>
            </a:extLst>
          </p:cNvPr>
          <p:cNvSpPr>
            <a:spLocks noGrp="1"/>
          </p:cNvSpPr>
          <p:nvPr/>
        </p:nvSpPr>
        <p:spPr>
          <a:xfrm>
            <a:off x="7524750" y="1857375"/>
            <a:ext cx="4000500" cy="1381125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47ED7-670F-46C1-A532-0841A2F07E14}"/>
              </a:ext>
            </a:extLst>
          </p:cNvPr>
          <p:cNvSpPr>
            <a:spLocks noGrp="1"/>
          </p:cNvSpPr>
          <p:nvPr/>
        </p:nvSpPr>
        <p:spPr>
          <a:xfrm>
            <a:off x="7762875" y="2047875"/>
            <a:ext cx="3524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Broad restrictions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7D936E-ADA0-4AD4-94E8-301EB3E8A31F}"/>
              </a:ext>
            </a:extLst>
          </p:cNvPr>
          <p:cNvSpPr>
            <a:spLocks noGrp="1"/>
          </p:cNvSpPr>
          <p:nvPr/>
        </p:nvSpPr>
        <p:spPr>
          <a:xfrm>
            <a:off x="7762875" y="2476500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Baseline tariffs or blanket controls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604D4-7594-4CA6-8D7D-65A3A2DDD1A5}"/>
              </a:ext>
            </a:extLst>
          </p:cNvPr>
          <p:cNvSpPr>
            <a:spLocks noGrp="1"/>
          </p:cNvSpPr>
          <p:nvPr/>
        </p:nvSpPr>
        <p:spPr>
          <a:xfrm>
            <a:off x="3333750" y="3429000"/>
            <a:ext cx="4000500" cy="1381125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BB3491-8952-44BD-AE5E-43332D1DBC03}"/>
              </a:ext>
            </a:extLst>
          </p:cNvPr>
          <p:cNvSpPr>
            <a:spLocks noGrp="1"/>
          </p:cNvSpPr>
          <p:nvPr/>
        </p:nvSpPr>
        <p:spPr>
          <a:xfrm>
            <a:off x="3571875" y="3619500"/>
            <a:ext cx="3524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Partner-specific incentives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3615FD-B66D-42EC-9EAD-DC31042D4009}"/>
              </a:ext>
            </a:extLst>
          </p:cNvPr>
          <p:cNvSpPr>
            <a:spLocks noGrp="1"/>
          </p:cNvSpPr>
          <p:nvPr/>
        </p:nvSpPr>
        <p:spPr>
          <a:xfrm>
            <a:off x="3571875" y="4048125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Bilateral investment or loans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85F726-1568-4B6F-89B0-69C77CD488AD}"/>
              </a:ext>
            </a:extLst>
          </p:cNvPr>
          <p:cNvSpPr>
            <a:spLocks noGrp="1"/>
          </p:cNvSpPr>
          <p:nvPr/>
        </p:nvSpPr>
        <p:spPr>
          <a:xfrm>
            <a:off x="7524750" y="3429000"/>
            <a:ext cx="4000500" cy="1381125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CAF970-15EF-4463-B219-E238FE5CC025}"/>
              </a:ext>
            </a:extLst>
          </p:cNvPr>
          <p:cNvSpPr>
            <a:spLocks noGrp="1"/>
          </p:cNvSpPr>
          <p:nvPr/>
        </p:nvSpPr>
        <p:spPr>
          <a:xfrm>
            <a:off x="7762875" y="3619500"/>
            <a:ext cx="3524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Partner-specific restrictions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AB2315-071F-43F3-B6F5-BCDAFD07968F}"/>
              </a:ext>
            </a:extLst>
          </p:cNvPr>
          <p:cNvSpPr>
            <a:spLocks noGrp="1"/>
          </p:cNvSpPr>
          <p:nvPr/>
        </p:nvSpPr>
        <p:spPr>
          <a:xfrm>
            <a:off x="7762875" y="4048125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Sanctions or focused export controls</a:t>
            </a:r>
          </a:p>
        </p:txBody>
      </p:sp>
    </p:spTree>
    <p:extLst>
      <p:ext uri="{BB962C8B-B14F-4D97-AF65-F5344CB8AC3E}">
        <p14:creationId xmlns:p14="http://schemas.microsoft.com/office/powerpoint/2010/main" val="677254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28B0921-9955-482F-A828-24B6E2FB52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Small-state strategy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65E21-00D4-4F3B-BFB0-EFA438C2DB11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Three responses to asymmetric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54309-60A1-473C-8F4F-1B7012C0AB43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136C9-6582-4112-9234-77A78EF126DE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3594100" cy="3810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D290E-18B0-42B3-A2D9-8321634174B9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5C1A8-0BF0-458E-9A7F-3B5DBFD3723D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ALIGN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8B7533-5B76-4BCB-BD1A-4D68613FF601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3251200" cy="2609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Borrow power</a:t>
            </a:r>
          </a:p>
          <a:p>
            <a:endParaRPr sz="2400" b="0" i="0" dirty="0">
              <a:solidFill>
                <a:srgbClr val="263B3F"/>
              </a:solidFill>
              <a:latin typeface="Calibri"/>
              <a:ea typeface="Calibri"/>
              <a:cs typeface="Calibri"/>
            </a:endParaRPr>
          </a:p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Attach to a major power when the contest is genuinely zero-sum and commitments are credible.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F2BDFF-F972-4C82-BAAF-68D859D1740A}"/>
              </a:ext>
            </a:extLst>
          </p:cNvPr>
          <p:cNvSpPr>
            <a:spLocks noGrp="1"/>
          </p:cNvSpPr>
          <p:nvPr/>
        </p:nvSpPr>
        <p:spPr>
          <a:xfrm>
            <a:off x="4298950" y="1524000"/>
            <a:ext cx="3594100" cy="3810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8D342-701E-4102-80E0-D804377BA7C0}"/>
              </a:ext>
            </a:extLst>
          </p:cNvPr>
          <p:cNvSpPr>
            <a:spLocks noGrp="1"/>
          </p:cNvSpPr>
          <p:nvPr/>
        </p:nvSpPr>
        <p:spPr>
          <a:xfrm>
            <a:off x="447040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AA0FD-38AB-4956-806C-9745190606A4}"/>
              </a:ext>
            </a:extLst>
          </p:cNvPr>
          <p:cNvSpPr>
            <a:spLocks noGrp="1"/>
          </p:cNvSpPr>
          <p:nvPr/>
        </p:nvSpPr>
        <p:spPr>
          <a:xfrm>
            <a:off x="447040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ACQUIESCE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9ADD7-1D70-4E46-B457-EBA24F7D0805}"/>
              </a:ext>
            </a:extLst>
          </p:cNvPr>
          <p:cNvSpPr>
            <a:spLocks noGrp="1"/>
          </p:cNvSpPr>
          <p:nvPr/>
        </p:nvSpPr>
        <p:spPr>
          <a:xfrm>
            <a:off x="4470400" y="2533650"/>
            <a:ext cx="3251200" cy="2609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Purchase relief</a:t>
            </a:r>
          </a:p>
          <a:p>
            <a:endParaRPr sz="2400" b="0" i="0" dirty="0">
              <a:solidFill>
                <a:srgbClr val="263B3F"/>
              </a:solidFill>
              <a:latin typeface="Calibri"/>
              <a:ea typeface="Calibri"/>
              <a:cs typeface="Calibri"/>
            </a:endParaRPr>
          </a:p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Offer the major power something it values so that it imposes less harm.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E8FBF-B5AD-4EE2-B0D0-834FAF80366C}"/>
              </a:ext>
            </a:extLst>
          </p:cNvPr>
          <p:cNvSpPr>
            <a:spLocks noGrp="1"/>
          </p:cNvSpPr>
          <p:nvPr/>
        </p:nvSpPr>
        <p:spPr>
          <a:xfrm>
            <a:off x="8102600" y="1524000"/>
            <a:ext cx="3594100" cy="3810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7DA971-DDC1-4FE7-86E9-8C96B546393F}"/>
              </a:ext>
            </a:extLst>
          </p:cNvPr>
          <p:cNvSpPr>
            <a:spLocks noGrp="1"/>
          </p:cNvSpPr>
          <p:nvPr/>
        </p:nvSpPr>
        <p:spPr>
          <a:xfrm>
            <a:off x="8274050" y="1676400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43C45B-6D55-4E51-BFB0-3C65054A6E22}"/>
              </a:ext>
            </a:extLst>
          </p:cNvPr>
          <p:cNvSpPr>
            <a:spLocks noGrp="1"/>
          </p:cNvSpPr>
          <p:nvPr/>
        </p:nvSpPr>
        <p:spPr>
          <a:xfrm>
            <a:off x="8274050" y="2076450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AGGREGATE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C8DB25-5C12-45B5-B9C6-608AB35392D5}"/>
              </a:ext>
            </a:extLst>
          </p:cNvPr>
          <p:cNvSpPr>
            <a:spLocks noGrp="1"/>
          </p:cNvSpPr>
          <p:nvPr/>
        </p:nvSpPr>
        <p:spPr>
          <a:xfrm>
            <a:off x="8274050" y="2533650"/>
            <a:ext cx="3251200" cy="2609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Create power</a:t>
            </a:r>
          </a:p>
          <a:p>
            <a:endParaRPr sz="2000" b="0" i="0" dirty="0">
              <a:solidFill>
                <a:srgbClr val="263B3F"/>
              </a:solidFill>
              <a:latin typeface="Calibri"/>
              <a:ea typeface="Calibri"/>
              <a:cs typeface="Calibri"/>
            </a:endParaRPr>
          </a:p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Combine markets, interests, rules or institutions until individually small actors become collectively consequential.</a:t>
            </a:r>
          </a:p>
        </p:txBody>
      </p:sp>
    </p:spTree>
    <p:extLst>
      <p:ext uri="{BB962C8B-B14F-4D97-AF65-F5344CB8AC3E}">
        <p14:creationId xmlns:p14="http://schemas.microsoft.com/office/powerpoint/2010/main" val="2126423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BB1834-3777-494A-A59A-36BB5175029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Align: borrow power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5679B3-EF86-4D27-85A6-7FE64E2DC496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Alignment can reduce immediate uncertainty while narrowing future choice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10810-A653-4959-900F-0CBAC90275E2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CFA09-CDDD-499D-918B-0CBAF905BCB9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4572000" cy="3048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296C2-C64B-430B-BFFB-50EA9C1996BD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When it 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7722FC-4C91-427E-B3C6-20AC7B09EA0A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4000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The contest is truly zero-sum</a:t>
            </a:r>
          </a:p>
          <a:p>
            <a:pPr algn="l">
              <a:defRPr sz="17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The patron’s commitment is durable</a:t>
            </a:r>
          </a:p>
          <a:p>
            <a:pPr algn="l">
              <a:defRPr sz="17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The chosen side can deliver security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BA3AD-92E4-4B49-83A1-50599BC7A2CD}"/>
              </a:ext>
            </a:extLst>
          </p:cNvPr>
          <p:cNvSpPr>
            <a:spLocks noGrp="1"/>
          </p:cNvSpPr>
          <p:nvPr/>
        </p:nvSpPr>
        <p:spPr>
          <a:xfrm>
            <a:off x="6000750" y="1714500"/>
            <a:ext cx="5334000" cy="30480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FBCFAC-B64E-4425-8172-B9AABBD8F57A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The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93E271-4A60-418C-A07B-6809C4E164E6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4762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Autonomy shifts to the patron</a:t>
            </a:r>
          </a:p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Commercial ties may follow security alignment</a:t>
            </a:r>
          </a:p>
          <a:p>
            <a:pPr algn="l">
              <a:defRPr sz="1725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• A change in the patron’s policy can strand the client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0C3217-FDF5-4601-A917-6B921839A2B7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1066800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28"/>
          </a:bodyPr>
          <a:lstStyle/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Strategic sidestepping</a:t>
            </a:r>
            <a:r>
              <a:rPr lang="en-US"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:  Can</a:t>
            </a: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 small states move beyond a single line between two great powers</a:t>
            </a:r>
            <a:r>
              <a:rPr lang="en-US"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?</a:t>
            </a:r>
            <a:endParaRPr sz="2000" b="1" i="0" dirty="0">
              <a:solidFill>
                <a:srgbClr val="263B3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7969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0C8FDB-B903-4206-9A94-506712E7926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Acquiesce: purchase relief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D8569C-8C0C-4047-9EA4-29D81106B401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The bargain can stabilise access without changing the underlying power asymmetry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3F20E-8D83-4F42-A218-1A3F64B51DF0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09E8A-FD8D-41DA-BA94-66D3CB03AD61}"/>
              </a:ext>
            </a:extLst>
          </p:cNvPr>
          <p:cNvSpPr>
            <a:spLocks noGrp="1"/>
          </p:cNvSpPr>
          <p:nvPr/>
        </p:nvSpPr>
        <p:spPr>
          <a:xfrm>
            <a:off x="904875" y="171450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Offer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7A053-7C90-4B57-B4B4-966F94D8EF18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266700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Market opening</a:t>
            </a:r>
          </a:p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Purchases</a:t>
            </a:r>
          </a:p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Investment commitments</a:t>
            </a:r>
          </a:p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Political cooperation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DC449A-0FF7-4248-8127-19812464FD21}"/>
              </a:ext>
            </a:extLst>
          </p:cNvPr>
          <p:cNvSpPr>
            <a:spLocks noGrp="1"/>
          </p:cNvSpPr>
          <p:nvPr/>
        </p:nvSpPr>
        <p:spPr>
          <a:xfrm>
            <a:off x="4191000" y="2714625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725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in exchange for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A8A8D-E22F-4717-8887-6B5D5042C1DC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Relief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CA309-95EE-485C-BA92-B561E71F8D03}"/>
              </a:ext>
            </a:extLst>
          </p:cNvPr>
          <p:cNvSpPr>
            <a:spLocks noGrp="1"/>
          </p:cNvSpPr>
          <p:nvPr/>
        </p:nvSpPr>
        <p:spPr>
          <a:xfrm>
            <a:off x="7477125" y="2381250"/>
            <a:ext cx="266700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Lower tariff</a:t>
            </a:r>
          </a:p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Fewer restrictions</a:t>
            </a:r>
          </a:p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Delayed pressure</a:t>
            </a:r>
          </a:p>
          <a:p>
            <a:pPr algn="ctr">
              <a:defRPr sz="17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0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Continued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EE6159-C157-4888-BFBC-A8333FE42574}"/>
              </a:ext>
            </a:extLst>
          </p:cNvPr>
          <p:cNvSpPr>
            <a:spLocks noGrp="1"/>
          </p:cNvSpPr>
          <p:nvPr/>
        </p:nvSpPr>
        <p:spPr>
          <a:xfrm>
            <a:off x="762000" y="5282611"/>
            <a:ext cx="10668000" cy="7620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9113EA-7182-40EF-B237-29599F4FE6E4}"/>
              </a:ext>
            </a:extLst>
          </p:cNvPr>
          <p:cNvSpPr>
            <a:spLocks noGrp="1"/>
          </p:cNvSpPr>
          <p:nvPr/>
        </p:nvSpPr>
        <p:spPr>
          <a:xfrm>
            <a:off x="1047750" y="5393589"/>
            <a:ext cx="1009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315"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Relief may be short-lived when objectives shift or strategic unpredictability becomes a tactic</a:t>
            </a:r>
          </a:p>
        </p:txBody>
      </p:sp>
    </p:spTree>
    <p:extLst>
      <p:ext uri="{BB962C8B-B14F-4D97-AF65-F5344CB8AC3E}">
        <p14:creationId xmlns:p14="http://schemas.microsoft.com/office/powerpoint/2010/main" val="1215731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8DB6D9-E7BD-449C-A7DB-7807775E726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Aggregate: create power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BAD332-E91E-411D-AABF-F20316564E7D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Small states manufacture agency by acting through shared markets, rules and institutions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F71E68-A749-42FC-AAD5-8062D4A35A57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D1779-5083-45AC-8AB6-B3160456698E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3594100" cy="36195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598C50-5D44-4F20-9FE7-FB1164D20DD4}"/>
              </a:ext>
            </a:extLst>
          </p:cNvPr>
          <p:cNvSpPr>
            <a:spLocks noGrp="1"/>
          </p:cNvSpPr>
          <p:nvPr/>
        </p:nvSpPr>
        <p:spPr>
          <a:xfrm>
            <a:off x="66675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BD54C-66A9-4BC2-9168-B1057366995C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Combine markets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574B0-9871-4325-A633-88F611493F6B}"/>
              </a:ext>
            </a:extLst>
          </p:cNvPr>
          <p:cNvSpPr>
            <a:spLocks noGrp="1"/>
          </p:cNvSpPr>
          <p:nvPr/>
        </p:nvSpPr>
        <p:spPr>
          <a:xfrm>
            <a:off x="666750" y="2486025"/>
            <a:ext cx="3251200" cy="2419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 larger collective market increases the cost of exclusion and strengthens negotiating leverage.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34B64-EBBB-49A4-9B26-3E57416C14AD}"/>
              </a:ext>
            </a:extLst>
          </p:cNvPr>
          <p:cNvSpPr>
            <a:spLocks noGrp="1"/>
          </p:cNvSpPr>
          <p:nvPr/>
        </p:nvSpPr>
        <p:spPr>
          <a:xfrm>
            <a:off x="4298950" y="1476375"/>
            <a:ext cx="3594100" cy="36195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EEA2E-0FCC-4299-A488-DE4EDD5B168F}"/>
              </a:ext>
            </a:extLst>
          </p:cNvPr>
          <p:cNvSpPr>
            <a:spLocks noGrp="1"/>
          </p:cNvSpPr>
          <p:nvPr/>
        </p:nvSpPr>
        <p:spPr>
          <a:xfrm>
            <a:off x="447040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395EA-64DD-4D63-9834-C38F211EE3FD}"/>
              </a:ext>
            </a:extLst>
          </p:cNvPr>
          <p:cNvSpPr>
            <a:spLocks noGrp="1"/>
          </p:cNvSpPr>
          <p:nvPr/>
        </p:nvSpPr>
        <p:spPr>
          <a:xfrm>
            <a:off x="447040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Combine 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C2AA4B-CD96-4306-A302-F39AFC0F7F88}"/>
              </a:ext>
            </a:extLst>
          </p:cNvPr>
          <p:cNvSpPr>
            <a:spLocks noGrp="1"/>
          </p:cNvSpPr>
          <p:nvPr/>
        </p:nvSpPr>
        <p:spPr>
          <a:xfrm>
            <a:off x="4470400" y="2486025"/>
            <a:ext cx="3251200" cy="2419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Common standards and dispute processes reduce fragmentation and raise the value of participation.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9D0A3-83F3-42FB-92E2-0587FA3DE703}"/>
              </a:ext>
            </a:extLst>
          </p:cNvPr>
          <p:cNvSpPr>
            <a:spLocks noGrp="1"/>
          </p:cNvSpPr>
          <p:nvPr/>
        </p:nvSpPr>
        <p:spPr>
          <a:xfrm>
            <a:off x="8102600" y="1476375"/>
            <a:ext cx="3594100" cy="3619500"/>
          </a:xfrm>
          <a:prstGeom prst="rect">
            <a:avLst/>
          </a:prstGeom>
          <a:solidFill>
            <a:srgbClr val="EE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DB9D7D-F705-4625-AEDC-2AEEEF1A0E1F}"/>
              </a:ext>
            </a:extLst>
          </p:cNvPr>
          <p:cNvSpPr>
            <a:spLocks noGrp="1"/>
          </p:cNvSpPr>
          <p:nvPr/>
        </p:nvSpPr>
        <p:spPr>
          <a:xfrm>
            <a:off x="8274050" y="1628775"/>
            <a:ext cx="323850" cy="32385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B68B7C-7CEF-4CB7-945D-53DB3E5A7DC2}"/>
              </a:ext>
            </a:extLst>
          </p:cNvPr>
          <p:cNvSpPr>
            <a:spLocks noGrp="1"/>
          </p:cNvSpPr>
          <p:nvPr/>
        </p:nvSpPr>
        <p:spPr>
          <a:xfrm>
            <a:off x="8274050" y="2028825"/>
            <a:ext cx="3251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Combine political legitimacy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DC2B20-1C6B-461C-929F-550AE3E97F35}"/>
              </a:ext>
            </a:extLst>
          </p:cNvPr>
          <p:cNvSpPr>
            <a:spLocks noGrp="1"/>
          </p:cNvSpPr>
          <p:nvPr/>
        </p:nvSpPr>
        <p:spPr>
          <a:xfrm>
            <a:off x="8274050" y="2486025"/>
            <a:ext cx="3251200" cy="2419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400" b="0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Joint action makes coercion harder to isolate and easier for others to support.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176DBE-317A-481D-948F-19BA5F77889D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112014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Aggregation is collective capacity, not passive adaptation</a:t>
            </a:r>
          </a:p>
        </p:txBody>
      </p:sp>
    </p:spTree>
    <p:extLst>
      <p:ext uri="{BB962C8B-B14F-4D97-AF65-F5344CB8AC3E}">
        <p14:creationId xmlns:p14="http://schemas.microsoft.com/office/powerpoint/2010/main" val="364520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841A1A9-1D1F-4075-9087-36A3FE7EC84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Pathfinder institutions for a multilateral-enough world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18876-3495-43F3-9399-14E77B6C1AD8}"/>
              </a:ext>
            </a:extLst>
          </p:cNvPr>
          <p:cNvSpPr>
            <a:spLocks noGrp="1"/>
          </p:cNvSpPr>
          <p:nvPr/>
        </p:nvSpPr>
        <p:spPr>
          <a:xfrm>
            <a:off x="495300" y="8001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Universal agreement is sufficient for cooperation, but it is not always necessary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D6F8C-3527-4E82-AE36-8DB31942D10E}"/>
              </a:ext>
            </a:extLst>
          </p:cNvPr>
          <p:cNvSpPr>
            <a:spLocks noGrp="1"/>
          </p:cNvSpPr>
          <p:nvPr/>
        </p:nvSpPr>
        <p:spPr>
          <a:xfrm>
            <a:off x="495300" y="1152525"/>
            <a:ext cx="4191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E0383E-A567-48BB-B45D-A32B22C45226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809750" cy="6096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8DD9D0-3571-4624-9C6E-345F474E99C2}"/>
              </a:ext>
            </a:extLst>
          </p:cNvPr>
          <p:cNvSpPr>
            <a:spLocks noGrp="1"/>
          </p:cNvSpPr>
          <p:nvPr/>
        </p:nvSpPr>
        <p:spPr>
          <a:xfrm>
            <a:off x="857250" y="1495425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MPIA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695B90-5A72-48DA-9F65-4EF7633BD138}"/>
              </a:ext>
            </a:extLst>
          </p:cNvPr>
          <p:cNvSpPr>
            <a:spLocks noGrp="1"/>
          </p:cNvSpPr>
          <p:nvPr/>
        </p:nvSpPr>
        <p:spPr>
          <a:xfrm>
            <a:off x="2857500" y="1495425"/>
            <a:ext cx="838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Keeps appellate trade adjudication available among participating members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F03DB-49BD-4835-BEDF-E292AB280047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1809750" cy="6096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0860A-CF33-4841-ACCA-8FB23831F70E}"/>
              </a:ext>
            </a:extLst>
          </p:cNvPr>
          <p:cNvSpPr>
            <a:spLocks noGrp="1"/>
          </p:cNvSpPr>
          <p:nvPr/>
        </p:nvSpPr>
        <p:spPr>
          <a:xfrm>
            <a:off x="857250" y="2276475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CPTPP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847929-DE44-461E-A835-781E762A37E3}"/>
              </a:ext>
            </a:extLst>
          </p:cNvPr>
          <p:cNvSpPr>
            <a:spLocks noGrp="1"/>
          </p:cNvSpPr>
          <p:nvPr/>
        </p:nvSpPr>
        <p:spPr>
          <a:xfrm>
            <a:off x="2857500" y="2276475"/>
            <a:ext cx="838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Maintains high-standard market access and rules without universal membership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9FC39-197E-46FE-9A35-4317F5784C92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1809750" cy="6096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4CD1B-59CF-403C-804F-2F1693542260}"/>
              </a:ext>
            </a:extLst>
          </p:cNvPr>
          <p:cNvSpPr>
            <a:spLocks noGrp="1"/>
          </p:cNvSpPr>
          <p:nvPr/>
        </p:nvSpPr>
        <p:spPr>
          <a:xfrm>
            <a:off x="857250" y="3057525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RCEP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EF3319-A49B-4770-8ED6-E43B4B4317D2}"/>
              </a:ext>
            </a:extLst>
          </p:cNvPr>
          <p:cNvSpPr>
            <a:spLocks noGrp="1"/>
          </p:cNvSpPr>
          <p:nvPr/>
        </p:nvSpPr>
        <p:spPr>
          <a:xfrm>
            <a:off x="2857500" y="3057525"/>
            <a:ext cx="838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Aggregates East Asian production networks at regional scale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127EE9-C596-44E4-81FF-831B052BA3D8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1809750" cy="6096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2FED9E-E0EE-4296-97A1-688D9E928BF8}"/>
              </a:ext>
            </a:extLst>
          </p:cNvPr>
          <p:cNvSpPr>
            <a:spLocks noGrp="1"/>
          </p:cNvSpPr>
          <p:nvPr/>
        </p:nvSpPr>
        <p:spPr>
          <a:xfrm>
            <a:off x="857250" y="3838575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FIT-P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C7E8E0-E69B-4BF7-80A3-20EAE4D2B5EC}"/>
              </a:ext>
            </a:extLst>
          </p:cNvPr>
          <p:cNvSpPr>
            <a:spLocks noGrp="1"/>
          </p:cNvSpPr>
          <p:nvPr/>
        </p:nvSpPr>
        <p:spPr>
          <a:xfrm>
            <a:off x="2857500" y="3838575"/>
            <a:ext cx="838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Creates a pathfinder platform for future trade cooperation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67E2D1-B703-44E7-AE87-FAA7A09241A7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1809750" cy="609600"/>
          </a:xfrm>
          <a:prstGeom prst="rect">
            <a:avLst/>
          </a:prstGeom>
          <a:solidFill>
            <a:srgbClr val="20383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4E9D76-05C4-4A71-B2A1-E9F83BC1AAEA}"/>
              </a:ext>
            </a:extLst>
          </p:cNvPr>
          <p:cNvSpPr>
            <a:spLocks noGrp="1"/>
          </p:cNvSpPr>
          <p:nvPr/>
        </p:nvSpPr>
        <p:spPr>
          <a:xfrm>
            <a:off x="857250" y="4619625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518"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G-minus cooperation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44B45B-60A6-4807-8C55-DC7A840A2166}"/>
              </a:ext>
            </a:extLst>
          </p:cNvPr>
          <p:cNvSpPr>
            <a:spLocks noGrp="1"/>
          </p:cNvSpPr>
          <p:nvPr/>
        </p:nvSpPr>
        <p:spPr>
          <a:xfrm>
            <a:off x="2857500" y="4619625"/>
            <a:ext cx="838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263B3F"/>
                </a:solidFill>
                <a:latin typeface="Calibri"/>
                <a:ea typeface="Calibri"/>
                <a:cs typeface="Calibri"/>
              </a:defRPr>
            </a:pPr>
            <a:r>
              <a:rPr sz="1500" b="1" i="0" dirty="0">
                <a:solidFill>
                  <a:srgbClr val="263B3F"/>
                </a:solidFill>
                <a:latin typeface="Calibri"/>
                <a:ea typeface="Calibri"/>
                <a:cs typeface="Calibri"/>
              </a:rPr>
              <a:t>Builds coalitions among willing states when a great power blocks universal 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03857F-1430-4953-B51E-EB0E591098CE}"/>
              </a:ext>
            </a:extLst>
          </p:cNvPr>
          <p:cNvSpPr>
            <a:spLocks noGrp="1"/>
          </p:cNvSpPr>
          <p:nvPr/>
        </p:nvSpPr>
        <p:spPr>
          <a:xfrm>
            <a:off x="762000" y="5954899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 i="1">
                <a:solidFill>
                  <a:srgbClr val="657275"/>
                </a:solidFill>
                <a:latin typeface="Calibri"/>
                <a:ea typeface="Calibri"/>
                <a:cs typeface="Calibri"/>
              </a:defRPr>
            </a:pPr>
            <a:r>
              <a:rPr sz="1650" b="0" i="1">
                <a:solidFill>
                  <a:srgbClr val="657275"/>
                </a:solidFill>
                <a:latin typeface="Calibri"/>
                <a:ea typeface="Calibri"/>
                <a:cs typeface="Calibri"/>
              </a:rPr>
              <a:t>The design test: does the arrangement increase joint capacity while preserving room for sovereign choice?</a:t>
            </a:r>
          </a:p>
        </p:txBody>
      </p:sp>
    </p:spTree>
    <p:extLst>
      <p:ext uri="{BB962C8B-B14F-4D97-AF65-F5344CB8AC3E}">
        <p14:creationId xmlns:p14="http://schemas.microsoft.com/office/powerpoint/2010/main" val="1092952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5FDFFF-EEB3-4573-ABD2-7A3D6B732F68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89779-C38E-40B0-8191-7B59DB4E9DFC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1028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states need not merely suffer what they must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0F056A-99B1-40FB-8349-07E068CB9AE2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685800" cy="38100"/>
          </a:xfrm>
          <a:prstGeom prst="rect">
            <a:avLst/>
          </a:prstGeom>
          <a:solidFill>
            <a:srgbClr val="F28C1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434A89-7913-4F2C-865F-9A55C841B3B0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CCD6D5"/>
                </a:solidFill>
                <a:latin typeface="Calibri"/>
                <a:ea typeface="Calibri"/>
                <a:cs typeface="Calibri"/>
              </a:rPr>
              <a:t>They can borrow power. They can purchase relief. Most importantly, they can create power together.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65F2D-3B91-4B22-A823-73602088DACC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28C18"/>
                </a:solidFill>
                <a:latin typeface="Calibri"/>
                <a:ea typeface="Calibri"/>
                <a:cs typeface="Calibri"/>
              </a:rPr>
              <a:t>Aggregation turns interdependence from exposure into agency</a:t>
            </a:r>
          </a:p>
        </p:txBody>
      </p:sp>
    </p:spTree>
    <p:extLst>
      <p:ext uri="{BB962C8B-B14F-4D97-AF65-F5344CB8AC3E}">
        <p14:creationId xmlns:p14="http://schemas.microsoft.com/office/powerpoint/2010/main" val="748824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2058</Words>
  <Application>Microsoft Macintosh PowerPoint</Application>
  <DocSecurity>0</DocSecurity>
  <PresentationFormat>Widescreen</PresentationFormat>
  <Paragraphs>318</Paragraphs>
  <Slides>31</Slides>
  <Notes>31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Danny Quah</cp:lastModifiedBy>
  <cp:revision>32</cp:revision>
  <dcterms:created xsi:type="dcterms:W3CDTF">2026-09-04T02:52:28Z</dcterms:created>
  <dcterms:modified xsi:type="dcterms:W3CDTF">2026-09-04T05:16:03Z</dcterms:modified>
</cp:coreProperties>
</file>